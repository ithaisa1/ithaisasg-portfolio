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011680"/>
            <a:ext cx="11091672" cy="1463040"/>
          </a:xfrm>
          <a:prstGeom prst="rect">
            <a:avLst/>
          </a:prstGeom>
          <a:noFill/>
          <a:ln/>
        </p:spPr>
        <p:txBody>
          <a:bodyPr wrap="square" rtlCol="0" anchor="ctr">
            <a:normAutofit/>
          </a:bodyPr>
          <a:lstStyle/>
          <a:p>
            <a:pPr indent="0" marL="0">
              <a:buNone/>
            </a:pPr>
            <a:r>
              <a:rPr lang="en-US" sz="4000" b="1" dirty="0">
                <a:solidFill>
                  <a:srgbClr val="1D2430"/>
                </a:solidFill>
              </a:rPr>
              <a:t>Primeros pasos con Git y GitHub</a:t>
            </a:r>
            <a:endParaRPr lang="en-US" sz="4000" dirty="0"/>
          </a:p>
        </p:txBody>
      </p:sp>
      <p:sp>
        <p:nvSpPr>
          <p:cNvPr id="3" name="Text 1"/>
          <p:cNvSpPr/>
          <p:nvPr/>
        </p:nvSpPr>
        <p:spPr>
          <a:xfrm>
            <a:off x="548640" y="3566160"/>
            <a:ext cx="11091672" cy="1097280"/>
          </a:xfrm>
          <a:prstGeom prst="rect">
            <a:avLst/>
          </a:prstGeom>
          <a:noFill/>
          <a:ln/>
        </p:spPr>
        <p:txBody>
          <a:bodyPr wrap="square" rtlCol="0" anchor="ctr">
            <a:normAutofit/>
          </a:bodyPr>
          <a:lstStyle/>
          <a:p>
            <a:pPr indent="0" marL="0">
              <a:buNone/>
            </a:pPr>
            <a:r>
              <a:rPr lang="en-US" sz="2000" dirty="0">
                <a:solidFill>
                  <a:srgbClr val="5B6678"/>
                </a:solidFill>
              </a:rPr>
              <a:t>Este curso introduce los conceptos fundamentales del control de versiones utilizando Git y la plataforma colaborativa GitHub. Está diseñado específicamente para personas que se inician en la programación y desean aprender a gestionar sus proyectos de forma ordenada y profesional. Recuerde que este material es de carácter formativo general y está orientado al autoaprendizaje básico.</a:t>
            </a:r>
            <a:endParaRPr lang="en-US" sz="2000" dirty="0"/>
          </a:p>
        </p:txBody>
      </p:sp>
      <p:sp>
        <p:nvSpPr>
          <p:cNvPr id="4" name="Text 2"/>
          <p:cNvSpPr/>
          <p:nvPr/>
        </p:nvSpPr>
        <p:spPr>
          <a:xfrm>
            <a:off x="548640" y="5120640"/>
            <a:ext cx="11091672" cy="1097280"/>
          </a:xfrm>
          <a:prstGeom prst="rect">
            <a:avLst/>
          </a:prstGeom>
          <a:noFill/>
          <a:ln/>
        </p:spPr>
        <p:txBody>
          <a:bodyPr wrap="square" rtlCol="0" anchor="ctr">
            <a:normAutofit/>
          </a:bodyPr>
          <a:lstStyle/>
          <a:p>
            <a:pPr indent="0" marL="0">
              <a:buNone/>
            </a:pPr>
            <a:r>
              <a:rPr lang="en-US" sz="1400" dirty="0">
                <a:solidFill>
                  <a:srgbClr val="5B6678"/>
                </a:solidFill>
              </a:rPr>
              <a:t>Parte de este contenido se ha generado con ayuda de inteligencia artificial. Revísalo antes de usarlo.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 </a:t>
            </a:r>
            <a:endParaRPr lang="en-US" sz="2800" dirty="0"/>
          </a:p>
        </p:txBody>
      </p:sp>
      <p:sp>
        <p:nvSpPr>
          <p:cNvPr id="3" name="Shape 1"/>
          <p:cNvSpPr/>
          <p:nvPr/>
        </p:nvSpPr>
        <p:spPr>
          <a:xfrm>
            <a:off x="548640" y="1417320"/>
            <a:ext cx="11091672" cy="0"/>
          </a:xfrm>
          <a:prstGeom prst="line">
            <a:avLst/>
          </a:prstGeom>
          <a:noFill/>
          <a:ln w="19050">
            <a:solidFill>
              <a:srgbClr val="1F5FBF"/>
            </a:solidFill>
            <a:prstDash val="solid"/>
          </a:ln>
        </p:spPr>
      </p:sp>
      <p:sp>
        <p:nvSpPr>
          <p:cNvPr id="4" name="Text 2"/>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Este curso introduce los conceptos fundamentales del control de versiones utilizando Git y la plataforma colaborativa GitHub. Está diseñado específicamente para personas que se inician en la programación y desean aprender a gestionar sus proyectos de forma ordenada y profesional. Recuerde que este material es de carácter formativo general y está orientado al autoaprendizaje básico.</a:t>
            </a:r>
            <a:endParaRPr lang="en-US" sz="2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Objetivos</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Objetivos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Objetivos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marL="342900" indent="-342900">
              <a:spcAft>
                <a:spcPts val="600"/>
              </a:spcAft>
              <a:buSzPct val="100000"/>
              <a:buChar char="•"/>
            </a:pPr>
            <a:r>
              <a:rPr lang="es-ES" altLang="en-US" sz="2000" dirty="0">
                <a:solidFill>
                  <a:srgbClr val="1D2430"/>
                </a:solidFill>
              </a:rPr>
              <a:t>Identificar la utilidad del control de versiones en el desarrollo de software.</a:t>
            </a:r>
            <a:endParaRPr lang="en-US" sz="2000" dirty="0"/>
          </a:p>
          <a:p>
            <a:pPr marL="342900" indent="-342900">
              <a:spcAft>
                <a:spcPts val="600"/>
              </a:spcAft>
              <a:buSzPct val="100000"/>
              <a:buChar char="•"/>
            </a:pPr>
            <a:r>
              <a:rPr lang="es-ES" altLang="en-US" sz="2000" dirty="0">
                <a:solidFill>
                  <a:srgbClr val="1D2430"/>
                </a:solidFill>
              </a:rPr>
              <a:t>Instalar y configurar Git en un entorno de desarrollo local.</a:t>
            </a:r>
            <a:endParaRPr lang="en-US" sz="2000" dirty="0"/>
          </a:p>
          <a:p>
            <a:pPr marL="342900" indent="-342900">
              <a:spcAft>
                <a:spcPts val="600"/>
              </a:spcAft>
              <a:buSzPct val="100000"/>
              <a:buChar char="•"/>
            </a:pPr>
            <a:r>
              <a:rPr lang="es-ES" altLang="en-US" sz="2000" dirty="0">
                <a:solidFill>
                  <a:srgbClr val="1D2430"/>
                </a:solidFill>
              </a:rPr>
              <a:t>Crear y gestionar repositorios locales y remotos.</a:t>
            </a:r>
            <a:endParaRPr lang="en-US" sz="2000" dirty="0"/>
          </a:p>
          <a:p>
            <a:pPr marL="342900" indent="-342900">
              <a:spcAft>
                <a:spcPts val="600"/>
              </a:spcAft>
              <a:buSzPct val="100000"/>
              <a:buChar char="•"/>
            </a:pPr>
            <a:r>
              <a:rPr lang="es-ES" altLang="en-US" sz="2000" dirty="0">
                <a:solidFill>
                  <a:srgbClr val="1D2430"/>
                </a:solidFill>
              </a:rPr>
              <a:t>Realizar operaciones básicas como commit, push y pull.</a:t>
            </a:r>
            <a:endParaRPr lang="en-US" sz="2000" dirty="0"/>
          </a:p>
          <a:p>
            <a:pPr marL="342900" indent="-342900">
              <a:spcAft>
                <a:spcPts val="600"/>
              </a:spcAft>
              <a:buSzPct val="100000"/>
              <a:buChar char="•"/>
            </a:pPr>
            <a:r>
              <a:rPr lang="es-ES" altLang="en-US" sz="2000" dirty="0">
                <a:solidFill>
                  <a:srgbClr val="1D2430"/>
                </a:solidFill>
              </a:rPr>
              <a:t>Colaborar en proyectos sencillos usando GitHub.</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Módulo 1: Introducción al Control de Versiones y Git</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Módulo 1: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Módulo 1: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Comprende qué es el control de versiones y aprende a instalar y configurar Git en tu computadora.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¿Qué es Git y por qué necesitas un sistema de control de versiones?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al control de versiones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Cuando comenzamos a escribir código o a crear documentos, es muy común guardar múltiples copias con nombres como </a:t>
            </a:r>
            <a:pPr indent="0" marL="0">
              <a:spcAft>
                <a:spcPts val="600"/>
              </a:spcAft>
              <a:buNone/>
            </a:pPr>
            <a:r>
              <a:rPr lang="es-ES" altLang="en-US" sz="2000" i="1" dirty="0">
                <a:solidFill>
                  <a:srgbClr val="1D2430"/>
                </a:solidFill>
              </a:rPr>
              <a:t>proyecto_final.txt</a:t>
            </a:r>
            <a:pPr indent="0" marL="0">
              <a:spcAft>
                <a:spcPts val="600"/>
              </a:spcAft>
              <a:buNone/>
            </a:pPr>
            <a:r>
              <a:rPr lang="es-ES" altLang="en-US" sz="2000" dirty="0">
                <a:solidFill>
                  <a:srgbClr val="1D2430"/>
                </a:solidFill>
              </a:rPr>
              <a:t>, </a:t>
            </a:r>
            <a:pPr indent="0" marL="0">
              <a:spcAft>
                <a:spcPts val="600"/>
              </a:spcAft>
              <a:buNone/>
            </a:pPr>
            <a:r>
              <a:rPr lang="es-ES" altLang="en-US" sz="2000" i="1" dirty="0">
                <a:solidFill>
                  <a:srgbClr val="1D2430"/>
                </a:solidFill>
              </a:rPr>
              <a:t>proyecto_final_v2.txt</a:t>
            </a:r>
            <a:pPr indent="0" marL="0">
              <a:spcAft>
                <a:spcPts val="600"/>
              </a:spcAft>
              <a:buNone/>
            </a:pPr>
            <a:r>
              <a:rPr lang="es-ES" altLang="en-US" sz="2000" dirty="0">
                <a:solidFill>
                  <a:srgbClr val="1D2430"/>
                </a:solidFill>
              </a:rPr>
              <a:t> o </a:t>
            </a:r>
            <a:pPr indent="0" marL="0">
              <a:spcAft>
                <a:spcPts val="600"/>
              </a:spcAft>
              <a:buNone/>
            </a:pPr>
            <a:r>
              <a:rPr lang="es-ES" altLang="en-US" sz="2000" i="1" dirty="0">
                <a:solidFill>
                  <a:srgbClr val="1D2430"/>
                </a:solidFill>
              </a:rPr>
              <a:t>proyecto_definitivo_real.txt</a:t>
            </a:r>
            <a:pPr indent="0" marL="0">
              <a:spcAft>
                <a:spcPts val="600"/>
              </a:spcAft>
              <a:buNone/>
            </a:pPr>
            <a:r>
              <a:rPr lang="es-ES" altLang="en-US" sz="2000" dirty="0">
                <a:solidFill>
                  <a:srgbClr val="1D2430"/>
                </a:solidFill>
              </a:rPr>
              <a:t>. Este método manual es desordenado, propenso a errores y dificulta saber qué cambios se hicieron y cuándo. Un sistema de control de versiones soluciona este problema registrando cada modificación realizada en los archivos a lo largo del tiempo.</a:t>
            </a:r>
            <a:endParaRPr lang="en-US" sz="2000" dirty="0"/>
          </a:p>
          <a:p>
            <a:pPr indent="0" marL="0">
              <a:spcAft>
                <a:spcPts val="600"/>
              </a:spcAft>
              <a:buNone/>
            </a:pPr>
            <a:r>
              <a:rPr lang="es-ES" altLang="en-US" sz="2000" dirty="0">
                <a:solidFill>
                  <a:srgbClr val="1D2430"/>
                </a:solidFill>
              </a:rPr>
              <a:t>Nota: Este material formativo general está diseñado con fines educativos y proporciona bases prácticas para principiantes.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¿Qué es Git y por qué necesitas un sistema de control de versiones?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¿Qué es Git y cómo funciona?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Git</a:t>
            </a:r>
            <a:pPr indent="0" marL="0">
              <a:spcAft>
                <a:spcPts val="600"/>
              </a:spcAft>
              <a:buNone/>
            </a:pPr>
            <a:r>
              <a:rPr lang="es-ES" altLang="en-US" sz="2000" dirty="0">
                <a:solidFill>
                  <a:srgbClr val="1D2430"/>
                </a:solidFill>
              </a:rPr>
              <a:t> es un sistema de control de versiones distribuido, creado originalmente por Linus Torvalds. A diferencia de otros sistemas centralizados, Git permite que cada desarrollador tenga una copia completa del historial del proyecto en su propia computadora. Esto significa que puedes trabajar sin conexión a internet y realizar operaciones complejas de manera local con gran velocidad.</a:t>
            </a:r>
            <a:endParaRPr lang="en-US" sz="2000" dirty="0"/>
          </a:p>
          <a:p>
            <a:pPr indent="0" marL="0">
              <a:spcAft>
                <a:spcPts val="600"/>
              </a:spcAft>
              <a:buNone/>
            </a:pPr>
            <a:r>
              <a:rPr lang="es-ES" altLang="en-US" sz="2000" dirty="0">
                <a:solidFill>
                  <a:srgbClr val="1D2430"/>
                </a:solidFill>
              </a:rPr>
              <a:t>Git no guarda una copia completa de todos los archivos cada vez que haces un cambio, sino que toma una serie de instantáneas (snapshots) del estado de tu proyecto en momentos específicos.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¿Qué es Git y por qué necesitas un sistema de control de versiones?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Ejemplo práctico de la utilidad de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Imagina que estás escribiendo un programa y añades una nueva función que rompe por completo el funcionamiento del código. Sin Git, tendrías que recordar exactamente qué líneas modificaste para borrarlas o buscar la copia anterior. Con Git, puedes comparar el estado actual con el de la última versión estable (un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commit</a:t>
            </a:r>
            <a:pPr indent="0" marL="0">
              <a:spcAft>
                <a:spcPts val="600"/>
              </a:spcAft>
              <a:buNone/>
            </a:pPr>
            <a:r>
              <a:rPr lang="es-ES" altLang="en-US" sz="2000" dirty="0">
                <a:solidFill>
                  <a:srgbClr val="1D2430"/>
                </a:solidFill>
              </a:rPr>
              <a:t> previo) y revertir los cambios defectuosos en cuestión de segundos, ahorrando tiempo y frustración.</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¿Qué es Git y por qué necesitas un sistema de control de versiones?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Ideas clave de la lección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Los puntos más importantes que debes recordar son:</a:t>
            </a:r>
            <a:endParaRPr lang="en-US" sz="2000" dirty="0"/>
          </a:p>
          <a:p>
            <a:pPr marL="342900" indent="-342900">
              <a:spcAft>
                <a:spcPts val="600"/>
              </a:spcAft>
              <a:buSzPct val="100000"/>
              <a:buChar char="•"/>
            </a:pPr>
            <a:r>
              <a:rPr lang="es-ES" altLang="en-US" sz="2000" dirty="0">
                <a:solidFill>
                  <a:srgbClr val="1D2430"/>
                </a:solidFill>
              </a:rPr>
              <a:t>El control de versiones evita la pérdida de información y el caos de nombrar archivos con sufijos repetitivos.</a:t>
            </a:r>
            <a:endParaRPr lang="en-US" sz="2000" dirty="0"/>
          </a:p>
          <a:p>
            <a:pPr marL="342900" indent="-342900">
              <a:spcAft>
                <a:spcPts val="600"/>
              </a:spcAft>
              <a:buSzPct val="100000"/>
              <a:buChar char="•"/>
            </a:pPr>
            <a:r>
              <a:rPr lang="es-ES" altLang="en-US" sz="2000" dirty="0">
                <a:solidFill>
                  <a:srgbClr val="1D2430"/>
                </a:solidFill>
              </a:rPr>
              <a:t>Git es un sistema distribuido que guarda instantáneas de tu proyecto.</a:t>
            </a:r>
            <a:endParaRPr lang="en-US" sz="2000" dirty="0"/>
          </a:p>
          <a:p>
            <a:pPr marL="342900" indent="-342900">
              <a:spcAft>
                <a:spcPts val="600"/>
              </a:spcAft>
              <a:buSzPct val="100000"/>
              <a:buChar char="•"/>
            </a:pPr>
            <a:r>
              <a:rPr lang="es-ES" altLang="en-US" sz="2000" dirty="0">
                <a:solidFill>
                  <a:srgbClr val="1D2430"/>
                </a:solidFill>
              </a:rPr>
              <a:t>Te permite viajar en el tiempo a través del historial de tu código para recuperar versiones anteriores o corregir errores rápidamente.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Instalación y configuración inicial de Git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Preparando tu entorno de desarrollo</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Antes de poder utilizar Git en tus proyectos, es necesario instalarlo en tu computadora y realizar una configuración básica de identidad. Esta configuración sirve para que Git sepa quién está realizando cada cambio en el código, lo cual es fundamental cuando trabajas de forma individual o en equipo.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Instalación y configuración inicial de Git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Pasos para la instalación de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La instalación de Git varía ligeramente según tu sistema operativo:</a:t>
            </a:r>
            <a:endParaRPr lang="en-US" sz="2000" dirty="0"/>
          </a:p>
          <a:p>
            <a:pPr marL="342900" indent="-342900">
              <a:spcAft>
                <a:spcPts val="600"/>
              </a:spcAft>
              <a:buSzPct val="100000"/>
              <a:buChar char="•"/>
            </a:pPr>
            <a:r>
              <a:rPr lang="es-ES" altLang="en-US" sz="2000" b="1" dirty="0">
                <a:solidFill>
                  <a:srgbClr val="1D2430"/>
                </a:solidFill>
              </a:rPr>
              <a:t>En Windows:</a:t>
            </a:r>
            <a:endParaRPr lang="en-US" sz="2000" dirty="0"/>
          </a:p>
          <a:p>
            <a:pPr marL="342900" indent="-342900">
              <a:spcAft>
                <a:spcPts val="600"/>
              </a:spcAft>
              <a:buSzPct val="100000"/>
              <a:buChar char="•"/>
            </a:pPr>
            <a:r>
              <a:rPr lang="es-ES" altLang="en-US" sz="2000" dirty="0">
                <a:solidFill>
                  <a:srgbClr val="1D2430"/>
                </a:solidFill>
              </a:rPr>
              <a:t> Debes descargar el instalador oficial desde el sitio web de Git y seguir las instrucciones del asistente, manteniendo por defecto las opciones recomendadas.</a:t>
            </a:r>
            <a:endParaRPr lang="en-US" sz="2000" dirty="0"/>
          </a:p>
          <a:p>
            <a:pPr marL="342900" indent="-342900">
              <a:spcAft>
                <a:spcPts val="600"/>
              </a:spcAft>
              <a:buSzPct val="100000"/>
              <a:buChar char="•"/>
            </a:pPr>
            <a:r>
              <a:rPr lang="es-ES" altLang="en-US" sz="2000" b="1" dirty="0">
                <a:solidFill>
                  <a:srgbClr val="1D2430"/>
                </a:solidFill>
              </a:rPr>
              <a:t>En macOS:</a:t>
            </a:r>
            <a:endParaRPr lang="en-US" sz="2000" dirty="0"/>
          </a:p>
          <a:p>
            <a:pPr marL="342900" indent="-342900">
              <a:spcAft>
                <a:spcPts val="600"/>
              </a:spcAft>
              <a:buSzPct val="100000"/>
              <a:buChar char="•"/>
            </a:pPr>
            <a:r>
              <a:rPr lang="es-ES" altLang="en-US" sz="2000" dirty="0">
                <a:solidFill>
                  <a:srgbClr val="1D2430"/>
                </a:solidFill>
              </a:rPr>
              <a:t> Puedes instalarlo mediante las herramientas de desarrollo de Xcode o a través de administradores de paquetes recomendados.</a:t>
            </a:r>
            <a:endParaRPr lang="en-US" sz="2000" dirty="0"/>
          </a:p>
          <a:p>
            <a:pPr marL="342900" indent="-342900">
              <a:spcAft>
                <a:spcPts val="600"/>
              </a:spcAft>
              <a:buSzPct val="100000"/>
              <a:buChar char="•"/>
            </a:pPr>
            <a:r>
              <a:rPr lang="es-ES" altLang="en-US" sz="2000" b="1" dirty="0">
                <a:solidFill>
                  <a:srgbClr val="1D2430"/>
                </a:solidFill>
              </a:rPr>
              <a:t>En Linux:</a:t>
            </a:r>
            <a:endParaRPr lang="en-US" sz="2000" dirty="0"/>
          </a:p>
          <a:p>
            <a:pPr marL="342900" indent="-342900">
              <a:spcAft>
                <a:spcPts val="600"/>
              </a:spcAft>
              <a:buSzPct val="100000"/>
              <a:buChar char="•"/>
            </a:pPr>
            <a:r>
              <a:rPr lang="es-ES" altLang="en-US" sz="2000" dirty="0">
                <a:solidFill>
                  <a:srgbClr val="1D2430"/>
                </a:solidFill>
              </a:rPr>
              <a:t> Se instala fácilmente utilizando el gestor de paquetes de tu distribución (por ejemplo, </a:t>
            </a:r>
            <a:endParaRPr lang="en-US" sz="2000" dirty="0"/>
          </a:p>
          <a:p>
            <a:pPr marL="342900" indent="-342900">
              <a:spcAft>
                <a:spcPts val="600"/>
              </a:spcAft>
              <a:buSzPct val="100000"/>
              <a:buChar char="•"/>
            </a:pPr>
            <a:r>
              <a:rPr lang="es-ES" altLang="en-US" sz="2000" dirty="0">
                <a:solidFill>
                  <a:srgbClr val="1D2430"/>
                </a:solidFill>
                <a:latin typeface="Courier New" pitchFamily="34" charset="0"/>
                <a:ea typeface="Courier New" pitchFamily="34" charset="-122"/>
                <a:cs typeface="Courier New" pitchFamily="34" charset="-120"/>
              </a:rPr>
              <a:t>sudo apt install git</a:t>
            </a:r>
            <a:endParaRPr lang="en-US" sz="2000" dirty="0"/>
          </a:p>
          <a:p>
            <a:pPr marL="342900" indent="-342900">
              <a:spcAft>
                <a:spcPts val="600"/>
              </a:spcAft>
              <a:buSzPct val="100000"/>
              <a:buChar char="•"/>
            </a:pPr>
            <a:r>
              <a:rPr lang="es-ES" altLang="en-US" sz="2000" dirty="0">
                <a:solidFill>
                  <a:srgbClr val="1D2430"/>
                </a:solidFill>
              </a:rPr>
              <a:t> en Ubuntu).</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Instalación y configuración inicial de Git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Configuración de tu identidad en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Una vez instalado, abre tu terminal o consola de comandos y configura tu nombre de usuario y correo electrónico ejecutando los siguientes comandos básicos:</a:t>
            </a:r>
            <a:endParaRPr lang="en-US" sz="2000" dirty="0"/>
          </a:p>
          <a:p>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config --global user.name "Tu Nombre" git config --global user.email "tu_correo@ejemplo.com"</a:t>
            </a:r>
            <a:endParaRPr lang="en-US" sz="2000" dirty="0"/>
          </a:p>
          <a:p>
            <a:pPr indent="0" marL="0">
              <a:spcAft>
                <a:spcPts val="600"/>
              </a:spcAft>
              <a:buNone/>
            </a:pPr>
            <a:r>
              <a:rPr lang="es-ES" altLang="en-US" sz="2000" dirty="0">
                <a:solidFill>
                  <a:srgbClr val="1D2430"/>
                </a:solidFill>
              </a:rPr>
              <a:t>Estos datos quedarán asociados a cada una de las contribuciones que realices utilizando Git.</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Instalación y configuración inicial de Git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la instalación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Has aprendido que instalar Git es un proceso rápido y directo en cualquier sistema operativo. La configuración del nombre y el correo electrónico mediante la terminal es un paso obligatorio y único que asegura la correcta identificación de tu autoría en el código.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Verificación y configuración del entorno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Abre la terminal o línea de comandos de tu computadora y realiza los siguientes pasos:</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Verifica que Git se haya instalado correctamente escribiendo el comando </a:t>
            </a:r>
            <a:endParaRPr lang="en-US" sz="2000" dirty="0"/>
          </a:p>
          <a:p>
            <a:pPr marL="342900" indent="-342900">
              <a:spcAft>
                <a:spcPts val="600"/>
              </a:spcAft>
              <a:buSzPct val="100000"/>
              <a:buFont typeface="+mj-lt"/>
              <a:buAutoNum type="arabicPeriod" startAt="1"/>
            </a:pPr>
            <a:r>
              <a:rPr lang="es-ES" altLang="en-US" sz="2000" dirty="0">
                <a:solidFill>
                  <a:srgbClr val="1D2430"/>
                </a:solidFill>
                <a:latin typeface="Courier New" pitchFamily="34" charset="0"/>
                <a:ea typeface="Courier New" pitchFamily="34" charset="-122"/>
                <a:cs typeface="Courier New" pitchFamily="34" charset="-120"/>
              </a:rPr>
              <a:t>git --version</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 y observando que devuelva un número de versión.</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Configura tu nombre y tu dirección de correo electrónico utilizando los comandos </a:t>
            </a:r>
            <a:endParaRPr lang="en-US" sz="2000" dirty="0"/>
          </a:p>
          <a:p>
            <a:pPr marL="342900" indent="-342900">
              <a:spcAft>
                <a:spcPts val="600"/>
              </a:spcAft>
              <a:buSzPct val="100000"/>
              <a:buFont typeface="+mj-lt"/>
              <a:buAutoNum type="arabicPeriod" startAt="1"/>
            </a:pPr>
            <a:r>
              <a:rPr lang="es-ES" altLang="en-US" sz="2000" dirty="0">
                <a:solidFill>
                  <a:srgbClr val="1D2430"/>
                </a:solidFill>
                <a:latin typeface="Courier New" pitchFamily="34" charset="0"/>
                <a:ea typeface="Courier New" pitchFamily="34" charset="-122"/>
                <a:cs typeface="Courier New" pitchFamily="34" charset="-120"/>
              </a:rPr>
              <a:t>git config --global user.name</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 y </a:t>
            </a:r>
            <a:endParaRPr lang="en-US" sz="2000" dirty="0"/>
          </a:p>
          <a:p>
            <a:pPr marL="342900" indent="-342900">
              <a:spcAft>
                <a:spcPts val="600"/>
              </a:spcAft>
              <a:buSzPct val="100000"/>
              <a:buFont typeface="+mj-lt"/>
              <a:buAutoNum type="arabicPeriod" startAt="1"/>
            </a:pPr>
            <a:r>
              <a:rPr lang="es-ES" altLang="en-US" sz="2000" dirty="0">
                <a:solidFill>
                  <a:srgbClr val="1D2430"/>
                </a:solidFill>
                <a:latin typeface="Courier New" pitchFamily="34" charset="0"/>
                <a:ea typeface="Courier New" pitchFamily="34" charset="-122"/>
                <a:cs typeface="Courier New" pitchFamily="34" charset="-120"/>
              </a:rPr>
              <a:t>git config --global user.email</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 con tus datos reales.</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Comprueba que la configuración se guardó correctamente ejecutando el comando </a:t>
            </a:r>
            <a:endParaRPr lang="en-US" sz="2000" dirty="0"/>
          </a:p>
          <a:p>
            <a:pPr marL="342900" indent="-342900">
              <a:spcAft>
                <a:spcPts val="600"/>
              </a:spcAft>
              <a:buSzPct val="100000"/>
              <a:buFont typeface="+mj-lt"/>
              <a:buAutoNum type="arabicPeriod" startAt="1"/>
            </a:pPr>
            <a:r>
              <a:rPr lang="es-ES" altLang="en-US" sz="2000" dirty="0">
                <a:solidFill>
                  <a:srgbClr val="1D2430"/>
                </a:solidFill>
                <a:latin typeface="Courier New" pitchFamily="34" charset="0"/>
                <a:ea typeface="Courier New" pitchFamily="34" charset="-122"/>
                <a:cs typeface="Courier New" pitchFamily="34" charset="-120"/>
              </a:rPr>
              <a:t>git config --list</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 en tu terminal.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aprobar: 60 %</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1</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¿Cuál es la principal característica de Git como sistema de control de versiones?</a:t>
            </a:r>
            <a:endParaRPr lang="en-US" sz="2000" dirty="0"/>
          </a:p>
          <a:p>
            <a:pPr marL="342900" indent="-342900">
              <a:spcAft>
                <a:spcPts val="600"/>
              </a:spcAft>
              <a:buSzPct val="100000"/>
              <a:buChar char="•"/>
            </a:pPr>
            <a:r>
              <a:rPr lang="es-ES" altLang="en-US" sz="2000" dirty="0">
                <a:solidFill>
                  <a:srgbClr val="1D2430"/>
                </a:solidFill>
              </a:rPr>
              <a:t>[ ] Es un sistema centralizado que depende de un único servidor principal.</a:t>
            </a:r>
            <a:endParaRPr lang="en-US" sz="2000" dirty="0"/>
          </a:p>
          <a:p>
            <a:pPr marL="342900" indent="-342900">
              <a:spcAft>
                <a:spcPts val="600"/>
              </a:spcAft>
              <a:buSzPct val="100000"/>
              <a:buChar char="•"/>
            </a:pPr>
            <a:r>
              <a:rPr lang="es-ES" altLang="en-US" sz="2000" dirty="0">
                <a:solidFill>
                  <a:srgbClr val="1D2430"/>
                </a:solidFill>
              </a:rPr>
              <a:t>[x] Es un sistema distribuido donde cada usuario posee el historial completo del proyecto.</a:t>
            </a:r>
            <a:endParaRPr lang="en-US" sz="2000" dirty="0"/>
          </a:p>
          <a:p>
            <a:pPr marL="342900" indent="-342900">
              <a:spcAft>
                <a:spcPts val="600"/>
              </a:spcAft>
              <a:buSzPct val="100000"/>
              <a:buChar char="•"/>
            </a:pPr>
            <a:r>
              <a:rPr lang="es-ES" altLang="en-US" sz="2000" dirty="0">
                <a:solidFill>
                  <a:srgbClr val="1D2430"/>
                </a:solidFill>
              </a:rPr>
              <a:t>[ ] Solo funciona si estás conectado a una red local o internet.</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Git es un sistema distribuido, lo que significa que cada usuario tiene una copia completa del historial del proyecto en su propia computadora.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2</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Para que Git identifique quién realiza los cambios en un repositorio, es necesario configurar el nombre de usuario y el correo electrónico mediante la terminal.</a:t>
            </a:r>
            <a:endParaRPr lang="en-US" sz="2000" dirty="0"/>
          </a:p>
          <a:p>
            <a:pPr marL="342900" indent="-342900">
              <a:spcAft>
                <a:spcPts val="600"/>
              </a:spcAft>
              <a:buSzPct val="100000"/>
              <a:buChar char="•"/>
            </a:pPr>
            <a:r>
              <a:rPr lang="es-ES" altLang="en-US" sz="2000" dirty="0">
                <a:solidFill>
                  <a:srgbClr val="1D2430"/>
                </a:solidFill>
              </a:rPr>
              <a:t>[x] Verdadero</a:t>
            </a:r>
            <a:endParaRPr lang="en-US" sz="2000" dirty="0"/>
          </a:p>
          <a:p>
            <a:pPr marL="342900" indent="-342900">
              <a:spcAft>
                <a:spcPts val="600"/>
              </a:spcAft>
              <a:buSzPct val="100000"/>
              <a:buChar char="•"/>
            </a:pPr>
            <a:r>
              <a:rPr lang="es-ES" altLang="en-US" sz="2000" dirty="0">
                <a:solidFill>
                  <a:srgbClr val="1D2430"/>
                </a:solidFill>
              </a:rPr>
              <a:t>[ ] Falso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Es obligatorio configurar la identidad (nombre y correo) para que queden registrados en las autorías de los commits.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3</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¿Qué comando se utiliza en la terminal para verificar la versión de Git instalada en tu computadora?</a:t>
            </a:r>
            <a:endParaRPr lang="en-US" sz="2000" dirty="0"/>
          </a:p>
          <a:p>
            <a:pPr indent="0" marL="0">
              <a:spcAft>
                <a:spcPts val="600"/>
              </a:spcAft>
              <a:buNone/>
            </a:pPr>
            <a:r>
              <a:rPr lang="es-ES" altLang="en-US" sz="2000" dirty="0">
                <a:solidFill>
                  <a:srgbClr val="1D2430"/>
                </a:solidFill>
              </a:rPr>
              <a:t>Respuestas aceptadas: git --version</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comando git --version muestra la versión instalada actualmente en el sistema.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4</a:t>
            </a:r>
            <a:pPr indent="0" marL="0">
              <a:spcAft>
                <a:spcPts val="600"/>
              </a:spcAft>
              <a:buNone/>
            </a:pPr>
            <a:r>
              <a:rPr lang="es-ES" altLang="en-US" sz="2000" dirty="0">
                <a:solidFill>
                  <a:srgbClr val="1D2430"/>
                </a:solidFill>
              </a:rPr>
              <a:t> (2 puntos)</a:t>
            </a:r>
            <a:endParaRPr lang="en-US" sz="2000" dirty="0"/>
          </a:p>
          <a:p>
            <a:pPr indent="0" marL="0">
              <a:spcAft>
                <a:spcPts val="600"/>
              </a:spcAft>
              <a:buNone/>
            </a:pPr>
            <a:r>
              <a:rPr lang="es-ES" altLang="en-US" sz="2000" dirty="0">
                <a:solidFill>
                  <a:srgbClr val="1D2430"/>
                </a:solidFill>
              </a:rPr>
              <a:t>Relaciona cada concepto con su descripción correspondiente en el contexto de Git.</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1D2430"/>
                          </a:solidFill>
                        </a:rPr>
                        <a:t>Elementos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c>
                  <a:txBody>
                    <a:bodyPr/>
                    <a:lstStyle/>
                    <a:p>
                      <a:pPr indent="0" marL="0">
                        <a:buNone/>
                      </a:pPr>
                      <a:r>
                        <a:rPr lang="en-US" sz="1400" b="1" dirty="0">
                          <a:solidFill>
                            <a:srgbClr val="1D2430"/>
                          </a:solidFill>
                        </a:rPr>
                        <a:t>Opciones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r>
              <a:tr h="0">
                <a:tc>
                  <a:txBody>
                    <a:bodyPr/>
                    <a:lstStyle/>
                    <a:p>
                      <a:pPr indent="0" marL="0">
                        <a:buNone/>
                      </a:pPr>
                      <a:r>
                        <a:rPr lang="en-US" sz="1400" dirty="0">
                          <a:solidFill>
                            <a:srgbClr val="1D2430"/>
                          </a:solidFill>
                        </a:rPr>
                        <a:t>Control de versiones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Sistema que registra los cambios en los archivos a lo largo del tiempo.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Instantánea (Snapshot)</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Estado del proyecto guardado por Git en un momento específico.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bl>
          </a:graphicData>
        </a:graphic>
      </p:graphicFrame>
      <p:sp>
        <p:nvSpPr>
          <p:cNvPr id="6"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al Control de Versiones y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al Control de Versiones y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control de versiones evita los nombres manuales repetitivos y Git utiliza un modelo distribuido basado en instantáneas.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Módulo 2: Trabajando de forma local con Git</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Módulo 2: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Módulo 2: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Aprende los comandos esenciales para registrar cambios en tus archivos y gestionar el historial del proyecto.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Creando tu primer repositorio y guardando cambios con commit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 los repositorios locales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aprenderás qué es un repositorio de Git y cómo transformar una carpeta común de tu ordenador en un proyecto vigilado por el control de versiones. Un repositorio local es simplemente un directorio que contiene todos los archivos de tu proyecto junto con una carpeta oculta que almacena el historial completo de cambios.</a:t>
            </a:r>
            <a:endParaRPr lang="en-US" sz="2000" dirty="0"/>
          </a:p>
          <a:p>
            <a:pPr indent="0" marL="0">
              <a:spcAft>
                <a:spcPts val="600"/>
              </a:spcAft>
              <a:buNone/>
            </a:pPr>
            <a:r>
              <a:rPr lang="es-ES" altLang="en-US" sz="2000" dirty="0">
                <a:solidFill>
                  <a:srgbClr val="1D2430"/>
                </a:solidFill>
              </a:rPr>
              <a:t>Este material formativo tiene un enfoque general y práctico. Para iniciar este camino, el primer comando fundamental que debes conocer es </a:t>
            </a:r>
            <a:pPr indent="0" marL="0">
              <a:spcAft>
                <a:spcPts val="600"/>
              </a:spcAft>
              <a:buNone/>
            </a:pPr>
            <a:r>
              <a:rPr lang="es-ES" altLang="en-US" sz="2000" b="1" dirty="0">
                <a:solidFill>
                  <a:srgbClr val="1D2430"/>
                </a:solidFill>
              </a:rPr>
              <a:t>git init</a:t>
            </a:r>
            <a:pPr indent="0" marL="0">
              <a:spcAft>
                <a:spcPts val="600"/>
              </a:spcAft>
              <a:buNone/>
            </a:pPr>
            <a:r>
              <a:rPr lang="es-ES" altLang="en-US" sz="2000" dirty="0">
                <a:solidFill>
                  <a:srgbClr val="1D2430"/>
                </a:solidFill>
              </a:rPr>
              <a:t>, el cual inicializa un repositorio vacío en tu espacio de trabajo y le indica a Git que comience a supervisar los archivos.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Creando tu primer repositorio y guardando cambios con commit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Preparando los cambios con git add</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Una vez que has creado o modificado archivos en tu proyecto, Git no guarda los cambios automáticamente. Debes indicarle de forma explícita qué archivos deseas incluir en la próxima fotografía o versión del código. Este paso intermedio se realiza utilizando el área de preparación o </a:t>
            </a:r>
            <a:pPr indent="0" marL="0">
              <a:spcAft>
                <a:spcPts val="600"/>
              </a:spcAft>
              <a:buNone/>
            </a:pPr>
            <a:r>
              <a:rPr lang="es-ES" altLang="en-US" sz="2000" i="1" dirty="0">
                <a:solidFill>
                  <a:srgbClr val="1D2430"/>
                </a:solidFill>
              </a:rPr>
              <a:t>staging area</a:t>
            </a:r>
            <a:pPr indent="0" marL="0">
              <a:spcAft>
                <a:spcPts val="600"/>
              </a:spcAft>
              <a:buNone/>
            </a:pPr>
            <a:r>
              <a:rPr lang="es-ES" altLang="en-US" sz="2000" dirty="0">
                <a:solidFill>
                  <a:srgbClr val="1D2430"/>
                </a:solidFill>
              </a:rPr>
              <a:t>.</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Creando tu primer repositorio y guardando cambios con commit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Preparando los cambios con git add (cont.)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añadir un archivo específico al área de preparación, utilizas el comando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add nombre_archivo</a:t>
            </a:r>
            <a:pPr indent="0" marL="0">
              <a:spcAft>
                <a:spcPts val="600"/>
              </a:spcAft>
              <a:buNone/>
            </a:pPr>
            <a:r>
              <a:rPr lang="es-ES" altLang="en-US" sz="2000" dirty="0">
                <a:solidFill>
                  <a:srgbClr val="1D2430"/>
                </a:solidFill>
              </a:rPr>
              <a:t>. Si deseas preparar todos los archivos nuevos o modificados de una sola vez, puedes utilizar el comando abreviado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add .</a:t>
            </a:r>
            <a:pPr indent="0" marL="0">
              <a:spcAft>
                <a:spcPts val="600"/>
              </a:spcAft>
              <a:buNone/>
            </a:pPr>
            <a:r>
              <a:rPr lang="es-ES" altLang="en-US" sz="2000" dirty="0">
                <a:solidFill>
                  <a:srgbClr val="1D2430"/>
                </a:solidFill>
              </a:rPr>
              <a:t>. Este proceso te permite seleccionar qué modificaciones formarán parte del siguiente registro histórico.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Creando tu primer repositorio y guardando cambios con commit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Guardando los cambios con git commit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Una vez que los archivos están en el área de preparación, el siguiente paso es guardarlos de forma permanente en el historial del repositorio mediante un commit. El comando para realizar esta acción es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commit -m "Mensaje descriptivo"</a:t>
            </a:r>
            <a:pPr indent="0" marL="0">
              <a:spcAft>
                <a:spcPts val="600"/>
              </a:spcAft>
              <a:buNone/>
            </a:pPr>
            <a:r>
              <a:rPr lang="es-ES" altLang="en-US" sz="2000" dirty="0">
                <a:solidFill>
                  <a:srgbClr val="1D2430"/>
                </a:solidFill>
              </a:rPr>
              <a:t>.</a:t>
            </a:r>
            <a:endParaRPr lang="en-US" sz="2000" dirty="0"/>
          </a:p>
          <a:p>
            <a:pPr indent="0" marL="0">
              <a:spcAft>
                <a:spcPts val="600"/>
              </a:spcAft>
              <a:buNone/>
            </a:pPr>
            <a:r>
              <a:rPr lang="es-ES" altLang="en-US" sz="2000" b="1" dirty="0">
                <a:solidFill>
                  <a:srgbClr val="1D2430"/>
                </a:solidFill>
              </a:rPr>
              <a:t>Ejemplo práctico:</a:t>
            </a:r>
            <a:pPr indent="0" marL="0">
              <a:spcAft>
                <a:spcPts val="600"/>
              </a:spcAft>
              <a:buNone/>
            </a:pPr>
            <a:r>
              <a:rPr lang="es-ES" altLang="en-US" sz="2000" dirty="0">
                <a:solidFill>
                  <a:srgbClr val="1D2430"/>
                </a:solidFill>
              </a:rPr>
              <a:t> Imagina que has creado un archivo de texto llamado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index.html</a:t>
            </a:r>
            <a:pPr indent="0" marL="0">
              <a:spcAft>
                <a:spcPts val="600"/>
              </a:spcAft>
              <a:buNone/>
            </a:pPr>
            <a:r>
              <a:rPr lang="es-ES" altLang="en-US" sz="2000" dirty="0">
                <a:solidFill>
                  <a:srgbClr val="1D2430"/>
                </a:solidFill>
              </a:rPr>
              <a:t>. Para guardarlo ejecutas:</a:t>
            </a:r>
            <a:endParaRPr lang="en-US" sz="2000" dirty="0"/>
          </a:p>
          <a:p>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init git add index.html git commit -m "Añadir estructura inicial de index.html"</a:t>
            </a:r>
            <a:endParaRPr lang="en-US" sz="2000" dirty="0"/>
          </a:p>
          <a:p>
            <a:pPr indent="0" marL="0">
              <a:spcAft>
                <a:spcPts val="600"/>
              </a:spcAft>
              <a:buNone/>
            </a:pPr>
            <a:r>
              <a:rPr lang="es-ES" altLang="en-US" sz="2000" dirty="0">
                <a:solidFill>
                  <a:srgbClr val="1D2430"/>
                </a:solidFill>
              </a:rPr>
              <a:t>El mensaje del commit debe ser corto pero claro, explicando siempre qué cambios se han realizado para facilitar futuras consultas en el historial del proyecto.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Creando tu primer repositorio y guardando cambios con commit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Ideas clave sobre commits y repositorios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consolidar lo aprendido en esta primera parte, recuerda los siguientes conceptos fundamentales:</a:t>
            </a:r>
            <a:endParaRPr lang="en-US" sz="2000" dirty="0"/>
          </a:p>
          <a:p>
            <a:pPr marL="342900" indent="-342900">
              <a:spcAft>
                <a:spcPts val="600"/>
              </a:spcAft>
              <a:buSzPct val="100000"/>
              <a:buChar char="•"/>
            </a:pPr>
            <a:r>
              <a:rPr lang="es-ES" altLang="en-US" sz="2000" b="1" dirty="0">
                <a:solidFill>
                  <a:srgbClr val="1D2430"/>
                </a:solidFill>
              </a:rPr>
              <a:t>git init:</a:t>
            </a:r>
            <a:endParaRPr lang="en-US" sz="2000" dirty="0"/>
          </a:p>
          <a:p>
            <a:pPr marL="342900" indent="-342900">
              <a:spcAft>
                <a:spcPts val="600"/>
              </a:spcAft>
              <a:buSzPct val="100000"/>
              <a:buChar char="•"/>
            </a:pPr>
            <a:r>
              <a:rPr lang="es-ES" altLang="en-US" sz="2000" dirty="0">
                <a:solidFill>
                  <a:srgbClr val="1D2430"/>
                </a:solidFill>
              </a:rPr>
              <a:t> Convierte una carpeta normal en un repositorio Git local.</a:t>
            </a:r>
            <a:endParaRPr lang="en-US" sz="2000" dirty="0"/>
          </a:p>
          <a:p>
            <a:pPr marL="342900" indent="-342900">
              <a:spcAft>
                <a:spcPts val="600"/>
              </a:spcAft>
              <a:buSzPct val="100000"/>
              <a:buChar char="•"/>
            </a:pPr>
            <a:r>
              <a:rPr lang="es-ES" altLang="en-US" sz="2000" b="1" dirty="0">
                <a:solidFill>
                  <a:srgbClr val="1D2430"/>
                </a:solidFill>
              </a:rPr>
              <a:t>git add:</a:t>
            </a:r>
            <a:endParaRPr lang="en-US" sz="2000" dirty="0"/>
          </a:p>
          <a:p>
            <a:pPr marL="342900" indent="-342900">
              <a:spcAft>
                <a:spcPts val="600"/>
              </a:spcAft>
              <a:buSzPct val="100000"/>
              <a:buChar char="•"/>
            </a:pPr>
            <a:r>
              <a:rPr lang="es-ES" altLang="en-US" sz="2000" dirty="0">
                <a:solidFill>
                  <a:srgbClr val="1D2430"/>
                </a:solidFill>
              </a:rPr>
              <a:t> Prepara los archivos seleccionados para el siguiente guardado.</a:t>
            </a:r>
            <a:endParaRPr lang="en-US" sz="2000" dirty="0"/>
          </a:p>
          <a:p>
            <a:pPr marL="342900" indent="-342900">
              <a:spcAft>
                <a:spcPts val="600"/>
              </a:spcAft>
              <a:buSzPct val="100000"/>
              <a:buChar char="•"/>
            </a:pPr>
            <a:r>
              <a:rPr lang="es-ES" altLang="en-US" sz="2000" b="1" dirty="0">
                <a:solidFill>
                  <a:srgbClr val="1D2430"/>
                </a:solidFill>
              </a:rPr>
              <a:t>git commit:</a:t>
            </a:r>
            <a:endParaRPr lang="en-US" sz="2000" dirty="0"/>
          </a:p>
          <a:p>
            <a:pPr marL="342900" indent="-342900">
              <a:spcAft>
                <a:spcPts val="600"/>
              </a:spcAft>
              <a:buSzPct val="100000"/>
              <a:buChar char="•"/>
            </a:pPr>
            <a:r>
              <a:rPr lang="es-ES" altLang="en-US" sz="2000" dirty="0">
                <a:solidFill>
                  <a:srgbClr val="1D2430"/>
                </a:solidFill>
              </a:rPr>
              <a:t> Crea un registro permanente en el historial del proyecto acompañado de un mensaje explicativo.</a:t>
            </a:r>
            <a:pPr indent="0" marL="0">
              <a:spcAft>
                <a:spcPts val="600"/>
              </a:spcAft>
              <a:buNone/>
            </a:pPr>
            <a:r>
              <a:rPr lang="es-ES" altLang="en-US" sz="2000" dirty="0">
                <a:solidFill>
                  <a:srgbClr val="1D2430"/>
                </a:solidFill>
              </a:rPr>
              <a:t>Trabajar con estos tres comandos de forma ordenada constituye el ciclo básico de trabajo diario cuando desarrollas software de manera local.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Consultando el estado y el historial del proyecto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La importancia de conocer el estado actual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Cuando trabajas en un proyecto, es muy común olvidar qué archivos has modificado, cuáles están preparados para el commit o si existen cambios pendientes de guardar. Para resolver esta incertidumbre, Git ofrece una herramienta de consulta rápida muy potente llamada </a:t>
            </a:r>
            <a:pPr indent="0" marL="0">
              <a:spcAft>
                <a:spcPts val="600"/>
              </a:spcAft>
              <a:buNone/>
            </a:pPr>
            <a:r>
              <a:rPr lang="es-ES" altLang="en-US" sz="2000" b="1" dirty="0">
                <a:solidFill>
                  <a:srgbClr val="1D2430"/>
                </a:solidFill>
              </a:rPr>
              <a:t>git status</a:t>
            </a:r>
            <a:pPr indent="0" marL="0">
              <a:spcAft>
                <a:spcPts val="600"/>
              </a:spcAft>
              <a:buNone/>
            </a:pPr>
            <a:r>
              <a:rPr lang="es-ES" altLang="en-US" sz="2000" dirty="0">
                <a:solidFill>
                  <a:srgbClr val="1D2430"/>
                </a:solidFill>
              </a:rPr>
              <a:t>.</a:t>
            </a:r>
            <a:endParaRPr lang="en-US" sz="2000" dirty="0"/>
          </a:p>
          <a:p>
            <a:pPr indent="0" marL="0">
              <a:spcAft>
                <a:spcPts val="600"/>
              </a:spcAft>
              <a:buNone/>
            </a:pPr>
            <a:r>
              <a:rPr lang="es-ES" altLang="en-US" sz="2000" dirty="0">
                <a:solidFill>
                  <a:srgbClr val="1D2430"/>
                </a:solidFill>
              </a:rPr>
              <a:t>Este comando te muestra de forma visual y clara la situación actual de tu espacio de trabajo, indicándote los ficheros que no están siendo rastreados, los modificados y los que ya se encuentran listos en el área de preparación.</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Consultando el estado y el historial del proyecto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Revisando el pasado con git log</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 medida que realizas múltiples commits a lo largo del tiempo, se va construyendo una línea temporal con la evolución de tu software. Para examinar este registro histórico y ver quién hizo los cambios y cuándo, utilizas el comando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log</a:t>
            </a:r>
            <a:pPr indent="0" marL="0">
              <a:spcAft>
                <a:spcPts val="600"/>
              </a:spcAft>
              <a:buNone/>
            </a:pPr>
            <a:r>
              <a:rPr lang="es-ES" altLang="en-US" sz="2000" dirty="0">
                <a:solidFill>
                  <a:srgbClr val="1D2430"/>
                </a:solidFill>
              </a:rPr>
              <a:t>.</a:t>
            </a:r>
            <a:endParaRPr lang="en-US" sz="2000" dirty="0"/>
          </a:p>
          <a:p>
            <a:pPr indent="0" marL="0">
              <a:spcAft>
                <a:spcPts val="600"/>
              </a:spcAft>
              <a:buNone/>
            </a:pPr>
            <a:r>
              <a:rPr lang="es-ES" altLang="en-US" sz="2000" dirty="0">
                <a:solidFill>
                  <a:srgbClr val="1D2430"/>
                </a:solidFill>
              </a:rPr>
              <a:t>Este comando despliega una lista cronológica inversa de todos los commits realizados en el repositorio actual. Cada entrada muestra un código identificador único (hash), el autor, la fecha y el mensaje descriptivo asociado a dicho cambio, permitiéndote auditar el desarrollo del proyecto paso a paso.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Consultando el estado y el historial del proyecto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comandos de consulta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El control efectivo de un repositorio local no solo implica guardar información, sino saber consultarla en cualquier momento. Repasa las utilidades principales de esta lección:</a:t>
            </a:r>
            <a:endParaRPr lang="en-US" sz="2000" dirty="0"/>
          </a:p>
          <a:p>
            <a:pPr marL="342900" indent="-342900">
              <a:spcAft>
                <a:spcPts val="600"/>
              </a:spcAft>
              <a:buSzPct val="100000"/>
              <a:buChar char="•"/>
            </a:pPr>
            <a:r>
              <a:rPr lang="es-ES" altLang="en-US" sz="2000" b="1" dirty="0">
                <a:solidFill>
                  <a:srgbClr val="1D2430"/>
                </a:solidFill>
              </a:rPr>
              <a:t>git status:</a:t>
            </a:r>
            <a:endParaRPr lang="en-US" sz="2000" dirty="0"/>
          </a:p>
          <a:p>
            <a:pPr marL="342900" indent="-342900">
              <a:spcAft>
                <a:spcPts val="600"/>
              </a:spcAft>
              <a:buSzPct val="100000"/>
              <a:buChar char="•"/>
            </a:pPr>
            <a:r>
              <a:rPr lang="es-ES" altLang="en-US" sz="2000" dirty="0">
                <a:solidFill>
                  <a:srgbClr val="1D2430"/>
                </a:solidFill>
              </a:rPr>
              <a:t> Informa sobre el estado actual de los archivos en tu directorio de trabajo y área de preparación.</a:t>
            </a:r>
            <a:endParaRPr lang="en-US" sz="2000" dirty="0"/>
          </a:p>
          <a:p>
            <a:pPr marL="342900" indent="-342900">
              <a:spcAft>
                <a:spcPts val="600"/>
              </a:spcAft>
              <a:buSzPct val="100000"/>
              <a:buChar char="•"/>
            </a:pPr>
            <a:r>
              <a:rPr lang="es-ES" altLang="en-US" sz="2000" b="1" dirty="0">
                <a:solidFill>
                  <a:srgbClr val="1D2430"/>
                </a:solidFill>
              </a:rPr>
              <a:t>git log:</a:t>
            </a:r>
            <a:endParaRPr lang="en-US" sz="2000" dirty="0"/>
          </a:p>
          <a:p>
            <a:pPr marL="342900" indent="-342900">
              <a:spcAft>
                <a:spcPts val="600"/>
              </a:spcAft>
              <a:buSzPct val="100000"/>
              <a:buChar char="•"/>
            </a:pPr>
            <a:r>
              <a:rPr lang="es-ES" altLang="en-US" sz="2000" dirty="0">
                <a:solidFill>
                  <a:srgbClr val="1D2430"/>
                </a:solidFill>
              </a:rPr>
              <a:t> Muestra el historial completo de commits realizados en el repositorio.</a:t>
            </a:r>
            <a:pPr indent="0" marL="0">
              <a:spcAft>
                <a:spcPts val="600"/>
              </a:spcAft>
              <a:buNone/>
            </a:pPr>
            <a:r>
              <a:rPr lang="es-ES" altLang="en-US" sz="2000" dirty="0">
                <a:solidFill>
                  <a:srgbClr val="1D2430"/>
                </a:solidFill>
              </a:rPr>
              <a:t>Dominar estas consultas te aportará total seguridad y visibilidad sobre el estado de tus proyectos informáticos desde la terminal.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Mi primer flujo local en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Abre tu terminal y realiza los siguientes pasos prácticos en una carpeta nueva de tu ordenador:</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Crea una carpeta llamada </a:t>
            </a:r>
            <a:endParaRPr lang="en-US" sz="2000" dirty="0"/>
          </a:p>
          <a:p>
            <a:pPr marL="342900" indent="-342900">
              <a:spcAft>
                <a:spcPts val="600"/>
              </a:spcAft>
              <a:buSzPct val="100000"/>
              <a:buFont typeface="+mj-lt"/>
              <a:buAutoNum type="arabicPeriod" startAt="1"/>
            </a:pPr>
            <a:r>
              <a:rPr lang="es-ES" altLang="en-US" sz="2000" b="1" dirty="0">
                <a:solidFill>
                  <a:srgbClr val="1D2430"/>
                </a:solidFill>
              </a:rPr>
              <a:t>proyecto-prueba</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 y accede a ella.</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Inicializa un repositorio de Git en su interior utilizando el comando correspondiente.</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Crea un archivo de texto llamado </a:t>
            </a:r>
            <a:endParaRPr lang="en-US" sz="2000" dirty="0"/>
          </a:p>
          <a:p>
            <a:pPr marL="342900" indent="-342900">
              <a:spcAft>
                <a:spcPts val="600"/>
              </a:spcAft>
              <a:buSzPct val="100000"/>
              <a:buFont typeface="+mj-lt"/>
              <a:buAutoNum type="arabicPeriod" startAt="1"/>
            </a:pPr>
            <a:r>
              <a:rPr lang="es-ES" altLang="en-US" sz="2000" b="1" dirty="0">
                <a:solidFill>
                  <a:srgbClr val="1D2430"/>
                </a:solidFill>
              </a:rPr>
              <a:t>notas.txt</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 que contenga una breve descripción sobre ti.</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Comprueba el estado del repositorio para identificar que el archivo no está rastreado.</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Prepara el archivo para el commit y luego realiza el commit con el mensaje </a:t>
            </a:r>
            <a:endParaRPr lang="en-US" sz="2000" dirty="0"/>
          </a:p>
          <a:p>
            <a:pPr marL="342900" indent="-342900">
              <a:spcAft>
                <a:spcPts val="600"/>
              </a:spcAft>
              <a:buSzPct val="100000"/>
              <a:buFont typeface="+mj-lt"/>
              <a:buAutoNum type="arabicPeriod" startAt="1"/>
            </a:pPr>
            <a:r>
              <a:rPr lang="es-ES" altLang="en-US" sz="2000" i="1" dirty="0">
                <a:solidFill>
                  <a:srgbClr val="1D2430"/>
                </a:solidFill>
              </a:rPr>
              <a:t>"Primer commit del archivo de notas"</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Consulta el historial del proyecto para verificar que el commit se ha registrado correctamente.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aprobar: 60 %</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1</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¿Qué comando se utiliza para inicializar un repositorio de Git en una carpeta local existente?</a:t>
            </a:r>
            <a:endParaRPr lang="en-US" sz="2000" dirty="0"/>
          </a:p>
          <a:p>
            <a:pPr marL="342900" indent="-342900">
              <a:spcAft>
                <a:spcPts val="600"/>
              </a:spcAft>
              <a:buSzPct val="100000"/>
              <a:buChar char="•"/>
            </a:pPr>
            <a:r>
              <a:rPr lang="es-ES" altLang="en-US" sz="2000" dirty="0">
                <a:solidFill>
                  <a:srgbClr val="1D2430"/>
                </a:solidFill>
              </a:rPr>
              <a:t>[ ] git start</a:t>
            </a:r>
            <a:endParaRPr lang="en-US" sz="2000" dirty="0"/>
          </a:p>
          <a:p>
            <a:pPr marL="342900" indent="-342900">
              <a:spcAft>
                <a:spcPts val="600"/>
              </a:spcAft>
              <a:buSzPct val="100000"/>
              <a:buChar char="•"/>
            </a:pPr>
            <a:r>
              <a:rPr lang="es-ES" altLang="en-US" sz="2000" dirty="0">
                <a:solidFill>
                  <a:srgbClr val="1D2430"/>
                </a:solidFill>
              </a:rPr>
              <a:t>[x] git init</a:t>
            </a:r>
            <a:endParaRPr lang="en-US" sz="2000" dirty="0"/>
          </a:p>
          <a:p>
            <a:pPr marL="342900" indent="-342900">
              <a:spcAft>
                <a:spcPts val="600"/>
              </a:spcAft>
              <a:buSzPct val="100000"/>
              <a:buChar char="•"/>
            </a:pPr>
            <a:r>
              <a:rPr lang="es-ES" altLang="en-US" sz="2000" dirty="0">
                <a:solidFill>
                  <a:srgbClr val="1D2430"/>
                </a:solidFill>
              </a:rPr>
              <a:t>[ ] git new</a:t>
            </a:r>
            <a:endParaRPr lang="en-US" sz="2000" dirty="0"/>
          </a:p>
          <a:p>
            <a:pPr marL="342900" indent="-342900">
              <a:spcAft>
                <a:spcPts val="600"/>
              </a:spcAft>
              <a:buSzPct val="100000"/>
              <a:buChar char="•"/>
            </a:pPr>
            <a:r>
              <a:rPr lang="es-ES" altLang="en-US" sz="2000" dirty="0">
                <a:solidFill>
                  <a:srgbClr val="1D2430"/>
                </a:solidFill>
              </a:rPr>
              <a:t>[ ] git create</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comando git init es el encargado de convertir un directorio común en un repositorio Git local con su historial oculto.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2</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El comando </a:t>
            </a:r>
            <a:pPr indent="0" marL="0">
              <a:spcAft>
                <a:spcPts val="600"/>
              </a:spcAft>
              <a:buNone/>
            </a:pPr>
            <a:r>
              <a:rPr lang="es-ES" altLang="en-US" sz="2000" b="1" dirty="0">
                <a:solidFill>
                  <a:srgbClr val="1D2430"/>
                </a:solidFill>
              </a:rPr>
              <a:t>git status</a:t>
            </a:r>
            <a:pPr indent="0" marL="0">
              <a:spcAft>
                <a:spcPts val="600"/>
              </a:spcAft>
              <a:buNone/>
            </a:pPr>
            <a:r>
              <a:rPr lang="es-ES" altLang="en-US" sz="2000" dirty="0">
                <a:solidFill>
                  <a:srgbClr val="1D2430"/>
                </a:solidFill>
              </a:rPr>
              <a:t> sirve para consultar el estado actual de los archivos en el directorio de trabajo y en el área de preparación.</a:t>
            </a:r>
            <a:endParaRPr lang="en-US" sz="2000" dirty="0"/>
          </a:p>
          <a:p>
            <a:pPr marL="342900" indent="-342900">
              <a:spcAft>
                <a:spcPts val="600"/>
              </a:spcAft>
              <a:buSzPct val="100000"/>
              <a:buChar char="•"/>
            </a:pPr>
            <a:r>
              <a:rPr lang="es-ES" altLang="en-US" sz="2000" dirty="0">
                <a:solidFill>
                  <a:srgbClr val="1D2430"/>
                </a:solidFill>
              </a:rPr>
              <a:t>[x] Verdadero</a:t>
            </a:r>
            <a:endParaRPr lang="en-US" sz="2000" dirty="0"/>
          </a:p>
          <a:p>
            <a:pPr marL="342900" indent="-342900">
              <a:spcAft>
                <a:spcPts val="600"/>
              </a:spcAft>
              <a:buSzPct val="100000"/>
              <a:buChar char="•"/>
            </a:pPr>
            <a:r>
              <a:rPr lang="es-ES" altLang="en-US" sz="2000" dirty="0">
                <a:solidFill>
                  <a:srgbClr val="1D2430"/>
                </a:solidFill>
              </a:rPr>
              <a:t>[ ] Falso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La afirmación es verdadera. Git status informa exactamente sobre los cambios modificados, pendientes de preparar o no rastreados.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3</a:t>
            </a:r>
            <a:pPr indent="0" marL="0">
              <a:spcAft>
                <a:spcPts val="600"/>
              </a:spcAft>
              <a:buNone/>
            </a:pPr>
            <a:r>
              <a:rPr lang="es-ES" altLang="en-US" sz="2000" dirty="0">
                <a:solidFill>
                  <a:srgbClr val="1D2430"/>
                </a:solidFill>
              </a:rPr>
              <a:t> (2 puntos)</a:t>
            </a:r>
            <a:endParaRPr lang="en-US" sz="2000" dirty="0"/>
          </a:p>
          <a:p>
            <a:pPr indent="0" marL="0">
              <a:spcAft>
                <a:spcPts val="600"/>
              </a:spcAft>
              <a:buNone/>
            </a:pPr>
            <a:r>
              <a:rPr lang="es-ES" altLang="en-US" sz="2000" dirty="0">
                <a:solidFill>
                  <a:srgbClr val="1D2430"/>
                </a:solidFill>
              </a:rPr>
              <a:t>Relaciona cada comando de Git con su función principal correspondiente: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1D2430"/>
                          </a:solidFill>
                        </a:rPr>
                        <a:t>Elementos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c>
                  <a:txBody>
                    <a:bodyPr/>
                    <a:lstStyle/>
                    <a:p>
                      <a:pPr indent="0" marL="0">
                        <a:buNone/>
                      </a:pPr>
                      <a:r>
                        <a:rPr lang="en-US" sz="1400" b="1" dirty="0">
                          <a:solidFill>
                            <a:srgbClr val="1D2430"/>
                          </a:solidFill>
                        </a:rPr>
                        <a:t>Opciones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r>
              <a:tr h="0">
                <a:tc>
                  <a:txBody>
                    <a:bodyPr/>
                    <a:lstStyle/>
                    <a:p>
                      <a:pPr indent="0" marL="0">
                        <a:buNone/>
                      </a:pPr>
                      <a:r>
                        <a:rPr lang="en-US" sz="1400" dirty="0">
                          <a:solidFill>
                            <a:srgbClr val="1D2430"/>
                          </a:solidFill>
                        </a:rPr>
                        <a:t>git init</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Inicializa un repositorio local vacío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git add</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Pasa los cambios al área de preparación</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git commit</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Guarda de forma permanente los cambios en el historial</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git log</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Muestra el historial cronológico de commits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bl>
          </a:graphicData>
        </a:graphic>
      </p:graphicFrame>
      <p:sp>
        <p:nvSpPr>
          <p:cNvPr id="6"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Cada comando tiene un propósito específico dentro del flujo básico: init crea el repositorio, add prepara los archivos, commit guarda los cambios y log muestra el historial.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Trabajando de forma local con Git</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Trabajando de forma local con Git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4</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¿Qué comando de Git se utiliza para mostrar el historial cronológico de los commits realizados en el proyecto?</a:t>
            </a:r>
            <a:endParaRPr lang="en-US" sz="2000" dirty="0"/>
          </a:p>
          <a:p>
            <a:pPr indent="0" marL="0">
              <a:spcAft>
                <a:spcPts val="600"/>
              </a:spcAft>
              <a:buNone/>
            </a:pPr>
            <a:r>
              <a:rPr lang="es-ES" altLang="en-US" sz="2000" dirty="0">
                <a:solidFill>
                  <a:srgbClr val="1D2430"/>
                </a:solidFill>
              </a:rPr>
              <a:t>Respuestas aceptadas: git log</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comando correcto es git log.</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Módulo 3: Llevando tu código a la nube con GitHub</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Módulo 3: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Módulo 3: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Conecta tus proyectos locales con GitHub para respaldar tu trabajo y compartirlo con otros desarrolladores.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Introducción a GitHub y vinculación de repositorios remotos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¿Qué es GitHub y para qué sirve?</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daremos el salto del desarrollo local a la nube utilizando </a:t>
            </a:r>
            <a:pPr indent="0" marL="0">
              <a:spcAft>
                <a:spcPts val="600"/>
              </a:spcAft>
              <a:buNone/>
            </a:pPr>
            <a:r>
              <a:rPr lang="es-ES" altLang="en-US" sz="2000" b="1" dirty="0">
                <a:solidFill>
                  <a:srgbClr val="1D2430"/>
                </a:solidFill>
              </a:rPr>
              <a:t>GitHub</a:t>
            </a:r>
            <a:pPr indent="0" marL="0">
              <a:spcAft>
                <a:spcPts val="600"/>
              </a:spcAft>
              <a:buNone/>
            </a:pPr>
            <a:r>
              <a:rPr lang="es-ES" altLang="en-US" sz="2000" dirty="0">
                <a:solidFill>
                  <a:srgbClr val="1D2430"/>
                </a:solidFill>
              </a:rPr>
              <a:t>. Hasta ahora has aprendido a gestionar tus archivos en tu propia computadora mediante Git, pero ¿qué ocurre si tu disco duro falla o quieres trabajar en equipo? Aquí es donde entra en juego GitHub.</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Introducción a GitHub y vinculación de repositorios remotos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¿Qué es GitHub y para qué sirve? (cont.)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GitHub es una plataforma basada en web que aloja repositorios Git. Funciona como un punto de encuentro centralizado donde puedes almacenar copias de seguridad de tus proyectos, mostrarlos al mundo y colaborar con otros desarrolladores de manera sencilla y ordenada. Este material formativo tiene un enfoque general y práctico para introducirte en estas herramientas profesionales.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Introducción a GitHub y vinculación de repositorios remotos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Diferencia entre repositorio local y remoto</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entender cómo funciona el flujo de trabajo en la nube, es fundamental distinguir entre dos conceptos clave:</a:t>
            </a:r>
            <a:endParaRPr lang="en-US" sz="2000" dirty="0"/>
          </a:p>
          <a:p>
            <a:pPr marL="342900" indent="-342900">
              <a:spcAft>
                <a:spcPts val="600"/>
              </a:spcAft>
              <a:buSzPct val="100000"/>
              <a:buChar char="•"/>
            </a:pPr>
            <a:r>
              <a:rPr lang="es-ES" altLang="en-US" sz="2000" b="1" dirty="0">
                <a:solidFill>
                  <a:srgbClr val="1D2430"/>
                </a:solidFill>
              </a:rPr>
              <a:t>Repositorio local:</a:t>
            </a:r>
            <a:endParaRPr lang="en-US" sz="2000" dirty="0"/>
          </a:p>
          <a:p>
            <a:pPr marL="342900" indent="-342900">
              <a:spcAft>
                <a:spcPts val="600"/>
              </a:spcAft>
              <a:buSzPct val="100000"/>
              <a:buChar char="•"/>
            </a:pPr>
            <a:r>
              <a:rPr lang="es-ES" altLang="en-US" sz="2000" dirty="0">
                <a:solidFill>
                  <a:srgbClr val="1D2430"/>
                </a:solidFill>
              </a:rPr>
              <a:t> Es el que se encuentra almacenado físicamente en tu ordenador. Es donde realizas tus cambios diarios y ejecutas los comandos </a:t>
            </a:r>
            <a:endParaRPr lang="en-US" sz="2000" dirty="0"/>
          </a:p>
          <a:p>
            <a:pPr marL="342900" indent="-342900">
              <a:spcAft>
                <a:spcPts val="600"/>
              </a:spcAft>
              <a:buSzPct val="100000"/>
              <a:buChar char="•"/>
            </a:pPr>
            <a:r>
              <a:rPr lang="es-ES" altLang="en-US" sz="2000" i="1" dirty="0">
                <a:solidFill>
                  <a:srgbClr val="1D2430"/>
                </a:solidFill>
              </a:rPr>
              <a:t>commit</a:t>
            </a:r>
            <a:endParaRPr lang="en-US" sz="2000" dirty="0"/>
          </a:p>
          <a:p>
            <a:pPr marL="342900" indent="-342900">
              <a:spcAft>
                <a:spcPts val="600"/>
              </a:spcAft>
              <a:buSzPct val="100000"/>
              <a:buChar char="•"/>
            </a:pPr>
            <a:r>
              <a:rPr lang="es-ES" altLang="en-US" sz="2000" dirty="0">
                <a:solidFill>
                  <a:srgbClr val="1D2430"/>
                </a:solidFill>
              </a:rPr>
              <a:t>.</a:t>
            </a:r>
            <a:endParaRPr lang="en-US" sz="2000" dirty="0"/>
          </a:p>
          <a:p>
            <a:pPr marL="342900" indent="-342900">
              <a:spcAft>
                <a:spcPts val="600"/>
              </a:spcAft>
              <a:buSzPct val="100000"/>
              <a:buChar char="•"/>
            </a:pPr>
            <a:r>
              <a:rPr lang="es-ES" altLang="en-US" sz="2000" b="1" dirty="0">
                <a:solidFill>
                  <a:srgbClr val="1D2430"/>
                </a:solidFill>
              </a:rPr>
              <a:t>Repositorio remoto:</a:t>
            </a:r>
            <a:endParaRPr lang="en-US" sz="2000" dirty="0"/>
          </a:p>
          <a:p>
            <a:pPr marL="342900" indent="-342900">
              <a:spcAft>
                <a:spcPts val="600"/>
              </a:spcAft>
              <a:buSzPct val="100000"/>
              <a:buChar char="•"/>
            </a:pPr>
            <a:r>
              <a:rPr lang="es-ES" altLang="en-US" sz="2000" dirty="0">
                <a:solidFill>
                  <a:srgbClr val="1D2430"/>
                </a:solidFill>
              </a:rPr>
              <a:t> Es la versión de tu proyecto que vive en un servidor externo, en este caso, en los servidores de GitHub. Permite centralizar el código y acceder a él desde cualquier lugar.</a:t>
            </a:r>
            <a:pPr indent="0" marL="0">
              <a:spcAft>
                <a:spcPts val="600"/>
              </a:spcAft>
              <a:buNone/>
            </a:pPr>
            <a:r>
              <a:rPr lang="es-ES" altLang="en-US" sz="2000" dirty="0">
                <a:solidFill>
                  <a:srgbClr val="1D2430"/>
                </a:solidFill>
              </a:rPr>
              <a:t>Vincular ambos repositorios significa establecer un puente de comunicación directo entre tu ordenador y la nube.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Introducción a GitHub y vinculación de repositorios remotos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Creando un repositorio en la plataforma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El primer paso práctico para llevar tu código a la nube consiste en crear un repositorio vacío en la interfaz web de GitHub. Para ello, inicias sesión, haces clic en el botón de crear un nuevo repositorio, le asignas un nombre descriptivo y decides si será público o privado.</a:t>
            </a:r>
            <a:endParaRPr lang="en-US" sz="2000" dirty="0"/>
          </a:p>
          <a:p>
            <a:pPr indent="0" marL="0">
              <a:spcAft>
                <a:spcPts val="600"/>
              </a:spcAft>
              <a:buNone/>
            </a:pPr>
            <a:r>
              <a:rPr lang="es-ES" altLang="en-US" sz="2000" dirty="0">
                <a:solidFill>
                  <a:srgbClr val="1D2430"/>
                </a:solidFill>
              </a:rPr>
              <a:t>Una vez creado, GitHub te proporciona una dirección web única (URL) que identifica ese repositorio remoto. Esta dirección será la que utilices desde tu terminal local para conectar ambos mundos mediante el comando de vinculación correspondiente.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Introducción a GitHub y vinculación de repositorios remotos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la vinculación remota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este bloque hemos aprendido los conceptos fundamentales sobre el alojamiento en la nube:</a:t>
            </a:r>
            <a:endParaRPr lang="en-US" sz="2000" dirty="0"/>
          </a:p>
          <a:p>
            <a:pPr marL="342900" indent="-342900">
              <a:spcAft>
                <a:spcPts val="600"/>
              </a:spcAft>
              <a:buSzPct val="100000"/>
              <a:buChar char="•"/>
            </a:pPr>
            <a:r>
              <a:rPr lang="es-ES" altLang="en-US" sz="2000" dirty="0">
                <a:solidFill>
                  <a:srgbClr val="1D2430"/>
                </a:solidFill>
              </a:rPr>
              <a:t>GitHub actúa como un servidor central para compartir y respaldar código basado en Git.</a:t>
            </a:r>
            <a:endParaRPr lang="en-US" sz="2000" dirty="0"/>
          </a:p>
          <a:p>
            <a:pPr marL="342900" indent="-342900">
              <a:spcAft>
                <a:spcPts val="600"/>
              </a:spcAft>
              <a:buSzPct val="100000"/>
              <a:buChar char="•"/>
            </a:pPr>
            <a:r>
              <a:rPr lang="es-ES" altLang="en-US" sz="2000" dirty="0">
                <a:solidFill>
                  <a:srgbClr val="1D2430"/>
                </a:solidFill>
              </a:rPr>
              <a:t>Existe una clara distinción entre el entorno local (tu computadora) y el entorno remoto (la nube).</a:t>
            </a:r>
            <a:endParaRPr lang="en-US" sz="2000" dirty="0"/>
          </a:p>
          <a:p>
            <a:pPr marL="342900" indent="-342900">
              <a:spcAft>
                <a:spcPts val="600"/>
              </a:spcAft>
              <a:buSzPct val="100000"/>
              <a:buChar char="•"/>
            </a:pPr>
            <a:r>
              <a:rPr lang="es-ES" altLang="en-US" sz="2000" dirty="0">
                <a:solidFill>
                  <a:srgbClr val="1D2430"/>
                </a:solidFill>
              </a:rPr>
              <a:t>Para conectar ambos espacios se utiliza una URL única proporcionada por GitHub al crear un nuevo proyecto en su plataforma web.</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Subiendo y descargando cambios usando push y pull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El ciclo de sincronización en la nube</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Una vez que tu repositorio local está vinculado con GitHub, el siguiente paso lógico es aprender a transferir información entre ambos entornos. Este proceso de intercambio de datos se realiza principalmente a través de dos comandos esenciales: </a:t>
            </a:r>
            <a:pPr indent="0" marL="0">
              <a:spcAft>
                <a:spcPts val="600"/>
              </a:spcAft>
              <a:buNone/>
            </a:pPr>
            <a:r>
              <a:rPr lang="es-ES" altLang="en-US" sz="2000" b="1" dirty="0">
                <a:solidFill>
                  <a:srgbClr val="1D2430"/>
                </a:solidFill>
              </a:rPr>
              <a:t>push</a:t>
            </a:r>
            <a:pPr indent="0" marL="0">
              <a:spcAft>
                <a:spcPts val="600"/>
              </a:spcAft>
              <a:buNone/>
            </a:pPr>
            <a:r>
              <a:rPr lang="es-ES" altLang="en-US" sz="2000" dirty="0">
                <a:solidFill>
                  <a:srgbClr val="1D2430"/>
                </a:solidFill>
              </a:rPr>
              <a:t> y </a:t>
            </a:r>
            <a:pPr indent="0" marL="0">
              <a:spcAft>
                <a:spcPts val="600"/>
              </a:spcAft>
              <a:buNone/>
            </a:pPr>
            <a:r>
              <a:rPr lang="es-ES" altLang="en-US" sz="2000" b="1" dirty="0">
                <a:solidFill>
                  <a:srgbClr val="1D2430"/>
                </a:solidFill>
              </a:rPr>
              <a:t>pull</a:t>
            </a:r>
            <a:pPr indent="0" marL="0">
              <a:spcAft>
                <a:spcPts val="600"/>
              </a:spcAft>
              <a:buNone/>
            </a:pPr>
            <a:r>
              <a:rPr lang="es-ES" altLang="en-US" sz="2000" dirty="0">
                <a:solidFill>
                  <a:srgbClr val="1D2430"/>
                </a:solidFill>
              </a:rPr>
              <a:t>.</a:t>
            </a:r>
            <a:endParaRPr lang="en-US" sz="2000" dirty="0"/>
          </a:p>
          <a:p>
            <a:pPr indent="0" marL="0">
              <a:spcAft>
                <a:spcPts val="600"/>
              </a:spcAft>
              <a:buNone/>
            </a:pPr>
            <a:r>
              <a:rPr lang="es-ES" altLang="en-US" sz="2000" dirty="0">
                <a:solidFill>
                  <a:srgbClr val="1D2430"/>
                </a:solidFill>
              </a:rPr>
              <a:t>Estos comandos permiten mantener tu trabajo actualizado tanto en tu equipo como en el servidor remoto, facilitando el respaldo constante y la colaboración fluida con otros programadores.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Subiendo y descargando cambios usando push y pull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Enviando tus cambios con git push</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El comando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push</a:t>
            </a:r>
            <a:pPr indent="0" marL="0">
              <a:spcAft>
                <a:spcPts val="600"/>
              </a:spcAft>
              <a:buNone/>
            </a:pPr>
            <a:r>
              <a:rPr lang="es-ES" altLang="en-US" sz="2000" dirty="0">
                <a:solidFill>
                  <a:srgbClr val="1D2430"/>
                </a:solidFill>
              </a:rPr>
              <a:t> se utiliza para enviar los </a:t>
            </a:r>
            <a:pPr indent="0" marL="0">
              <a:spcAft>
                <a:spcPts val="600"/>
              </a:spcAft>
              <a:buNone/>
            </a:pPr>
            <a:r>
              <a:rPr lang="es-ES" altLang="en-US" sz="2000" i="1" dirty="0">
                <a:solidFill>
                  <a:srgbClr val="1D2430"/>
                </a:solidFill>
              </a:rPr>
              <a:t>commits</a:t>
            </a:r>
            <a:pPr indent="0" marL="0">
              <a:spcAft>
                <a:spcPts val="600"/>
              </a:spcAft>
              <a:buNone/>
            </a:pPr>
            <a:r>
              <a:rPr lang="es-ES" altLang="en-US" sz="2000" dirty="0">
                <a:solidFill>
                  <a:srgbClr val="1D2430"/>
                </a:solidFill>
              </a:rPr>
              <a:t> que has realizado en tu repositorio local hacia el repositorio remoto en GitHub. Imagina que has escrito nuevo código y lo has guardado localmente; para que otros puedan verlo o para tener una copia de seguridad segura en la nube, ejecutas esta orden.</a:t>
            </a:r>
            <a:endParaRPr lang="en-US" sz="2000" dirty="0"/>
          </a:p>
          <a:p>
            <a:pPr indent="0" marL="0">
              <a:spcAft>
                <a:spcPts val="600"/>
              </a:spcAft>
              <a:buNone/>
            </a:pPr>
            <a:r>
              <a:rPr lang="es-ES" altLang="en-US" sz="2000" dirty="0">
                <a:solidFill>
                  <a:srgbClr val="1D2430"/>
                </a:solidFill>
              </a:rPr>
              <a:t>Al utilizarlo por primera vez en un repositorio recién vinculado, es común indicar el nombre del servidor remoto (por defecto </a:t>
            </a:r>
            <a:pPr indent="0" marL="0">
              <a:spcAft>
                <a:spcPts val="600"/>
              </a:spcAft>
              <a:buNone/>
            </a:pPr>
            <a:r>
              <a:rPr lang="es-ES" altLang="en-US" sz="2000" i="1" dirty="0">
                <a:solidFill>
                  <a:srgbClr val="1D2430"/>
                </a:solidFill>
              </a:rPr>
              <a:t>origin</a:t>
            </a:r>
            <a:pPr indent="0" marL="0">
              <a:spcAft>
                <a:spcPts val="600"/>
              </a:spcAft>
              <a:buNone/>
            </a:pPr>
            <a:r>
              <a:rPr lang="es-ES" altLang="en-US" sz="2000" dirty="0">
                <a:solidFill>
                  <a:srgbClr val="1D2430"/>
                </a:solidFill>
              </a:rPr>
              <a:t>) y la rama principal (como </a:t>
            </a:r>
            <a:pPr indent="0" marL="0">
              <a:spcAft>
                <a:spcPts val="600"/>
              </a:spcAft>
              <a:buNone/>
            </a:pPr>
            <a:r>
              <a:rPr lang="es-ES" altLang="en-US" sz="2000" i="1" dirty="0">
                <a:solidFill>
                  <a:srgbClr val="1D2430"/>
                </a:solidFill>
              </a:rPr>
              <a:t>main</a:t>
            </a:r>
            <a:pPr indent="0" marL="0">
              <a:spcAft>
                <a:spcPts val="600"/>
              </a:spcAft>
              <a:buNone/>
            </a:pPr>
            <a:r>
              <a:rPr lang="es-ES" altLang="en-US" sz="2000" dirty="0">
                <a:solidFill>
                  <a:srgbClr val="1D2430"/>
                </a:solidFill>
              </a:rPr>
              <a:t>).</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Subiendo y descargando cambios usando push y pull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Actualizando tu entorno con git pull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Por el contrario, el comando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pull</a:t>
            </a:r>
            <a:pPr indent="0" marL="0">
              <a:spcAft>
                <a:spcPts val="600"/>
              </a:spcAft>
              <a:buNone/>
            </a:pPr>
            <a:r>
              <a:rPr lang="es-ES" altLang="en-US" sz="2000" dirty="0">
                <a:solidFill>
                  <a:srgbClr val="1D2430"/>
                </a:solidFill>
              </a:rPr>
              <a:t> sirve para descargar los cambios más recientes que existan en el repositorio remoto y fusionarlos automáticamente en tu repositorio local.</a:t>
            </a:r>
            <a:endParaRPr lang="en-US" sz="2000" dirty="0"/>
          </a:p>
          <a:p>
            <a:pPr indent="0" marL="0">
              <a:spcAft>
                <a:spcPts val="600"/>
              </a:spcAft>
              <a:buNone/>
            </a:pPr>
            <a:r>
              <a:rPr lang="es-ES" altLang="en-US" sz="2000" dirty="0">
                <a:solidFill>
                  <a:srgbClr val="1D2430"/>
                </a:solidFill>
              </a:rPr>
              <a:t>Esto resulta indispensable cuando trabajas en equipo, ya que otros colaboradores pueden haber añadido nuevas líneas de código a la nube mientras tú trabajabas en tu computadora. Hacer un </a:t>
            </a:r>
            <a:pPr indent="0" marL="0">
              <a:spcAft>
                <a:spcPts val="600"/>
              </a:spcAft>
              <a:buNone/>
            </a:pPr>
            <a:r>
              <a:rPr lang="es-ES" altLang="en-US" sz="2000" i="1" dirty="0">
                <a:solidFill>
                  <a:srgbClr val="1D2430"/>
                </a:solidFill>
              </a:rPr>
              <a:t>pull</a:t>
            </a:r>
            <a:pPr indent="0" marL="0">
              <a:spcAft>
                <a:spcPts val="600"/>
              </a:spcAft>
              <a:buNone/>
            </a:pPr>
            <a:r>
              <a:rPr lang="es-ES" altLang="en-US" sz="2000" dirty="0">
                <a:solidFill>
                  <a:srgbClr val="1D2430"/>
                </a:solidFill>
              </a:rPr>
              <a:t> te asegura estar siempre al día con la última versión del proyecto.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Subiendo y descargando cambios usando push y pull (20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Ideas clave sobre push y pull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Repasemos los conceptos operativos básicos para interactuar con GitHub:</a:t>
            </a:r>
            <a:endParaRPr lang="en-US" sz="2000" dirty="0"/>
          </a:p>
          <a:p>
            <a:pPr marL="342900" indent="-342900">
              <a:spcAft>
                <a:spcPts val="600"/>
              </a:spcAft>
              <a:buSzPct val="100000"/>
              <a:buChar char="•"/>
            </a:pPr>
            <a:r>
              <a:rPr lang="es-ES" altLang="en-US" sz="2000" dirty="0">
                <a:solidFill>
                  <a:srgbClr val="1D2430"/>
                </a:solidFill>
              </a:rPr>
              <a:t>Usa </a:t>
            </a:r>
            <a:endParaRPr lang="en-US" sz="2000" dirty="0"/>
          </a:p>
          <a:p>
            <a:pPr marL="342900" indent="-342900">
              <a:spcAft>
                <a:spcPts val="600"/>
              </a:spcAft>
              <a:buSzPct val="100000"/>
              <a:buChar char="•"/>
            </a:pPr>
            <a:r>
              <a:rPr lang="es-ES" altLang="en-US" sz="2000" dirty="0">
                <a:solidFill>
                  <a:srgbClr val="1D2430"/>
                </a:solidFill>
                <a:latin typeface="Courier New" pitchFamily="34" charset="0"/>
                <a:ea typeface="Courier New" pitchFamily="34" charset="-122"/>
                <a:cs typeface="Courier New" pitchFamily="34" charset="-120"/>
              </a:rPr>
              <a:t>git push</a:t>
            </a:r>
            <a:endParaRPr lang="en-US" sz="2000" dirty="0"/>
          </a:p>
          <a:p>
            <a:pPr marL="342900" indent="-342900">
              <a:spcAft>
                <a:spcPts val="600"/>
              </a:spcAft>
              <a:buSzPct val="100000"/>
              <a:buChar char="•"/>
            </a:pPr>
            <a:r>
              <a:rPr lang="es-ES" altLang="en-US" sz="2000" dirty="0">
                <a:solidFill>
                  <a:srgbClr val="1D2430"/>
                </a:solidFill>
              </a:rPr>
              <a:t> para subir tus commits locales al servidor remoto en la nube.</a:t>
            </a:r>
            <a:endParaRPr lang="en-US" sz="2000" dirty="0"/>
          </a:p>
          <a:p>
            <a:pPr marL="342900" indent="-342900">
              <a:spcAft>
                <a:spcPts val="600"/>
              </a:spcAft>
              <a:buSzPct val="100000"/>
              <a:buChar char="•"/>
            </a:pPr>
            <a:r>
              <a:rPr lang="es-ES" altLang="en-US" sz="2000" dirty="0">
                <a:solidFill>
                  <a:srgbClr val="1D2430"/>
                </a:solidFill>
              </a:rPr>
              <a:t>Usa </a:t>
            </a:r>
            <a:endParaRPr lang="en-US" sz="2000" dirty="0"/>
          </a:p>
          <a:p>
            <a:pPr marL="342900" indent="-342900">
              <a:spcAft>
                <a:spcPts val="600"/>
              </a:spcAft>
              <a:buSzPct val="100000"/>
              <a:buChar char="•"/>
            </a:pPr>
            <a:r>
              <a:rPr lang="es-ES" altLang="en-US" sz="2000" dirty="0">
                <a:solidFill>
                  <a:srgbClr val="1D2430"/>
                </a:solidFill>
                <a:latin typeface="Courier New" pitchFamily="34" charset="0"/>
                <a:ea typeface="Courier New" pitchFamily="34" charset="-122"/>
                <a:cs typeface="Courier New" pitchFamily="34" charset="-120"/>
              </a:rPr>
              <a:t>git pull</a:t>
            </a:r>
            <a:endParaRPr lang="en-US" sz="2000" dirty="0"/>
          </a:p>
          <a:p>
            <a:pPr marL="342900" indent="-342900">
              <a:spcAft>
                <a:spcPts val="600"/>
              </a:spcAft>
              <a:buSzPct val="100000"/>
              <a:buChar char="•"/>
            </a:pPr>
            <a:r>
              <a:rPr lang="es-ES" altLang="en-US" sz="2000" dirty="0">
                <a:solidFill>
                  <a:srgbClr val="1D2430"/>
                </a:solidFill>
              </a:rPr>
              <a:t> para descargar y fusionar las actualizaciones del servidor remoto en tu equipo local.</a:t>
            </a:r>
            <a:endParaRPr lang="en-US" sz="2000" dirty="0"/>
          </a:p>
          <a:p>
            <a:pPr marL="342900" indent="-342900">
              <a:spcAft>
                <a:spcPts val="600"/>
              </a:spcAft>
              <a:buSzPct val="100000"/>
              <a:buChar char="•"/>
            </a:pPr>
            <a:r>
              <a:rPr lang="es-ES" altLang="en-US" sz="2000" dirty="0">
                <a:solidFill>
                  <a:srgbClr val="1D2430"/>
                </a:solidFill>
              </a:rPr>
              <a:t>Mantener una rutina constante de envío y recepción de cambios evita conflictos complejos en el desarrollo de software.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Conectando mi primer proyecto a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Imagina que tienes un proyecto local en tu computadora donde ya has realizado algunos commits previos. Sigue estos pasos conceptuales para completar tu práctica:</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Crea un nuevo repositorio vacío en la plataforma web de GitHub y copia su dirección URL.</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Abre tu terminal en la carpeta del proyecto local y vincula tu repositorio local con la URL obtenida de GitHub.</a:t>
            </a:r>
            <a:endParaRPr lang="en-US" sz="2000" dirty="0"/>
          </a:p>
          <a:p>
            <a:pPr marL="342900" indent="-342900">
              <a:spcAft>
                <a:spcPts val="600"/>
              </a:spcAft>
              <a:buSzPct val="100000"/>
              <a:buFont typeface="+mj-lt"/>
              <a:buAutoNum type="arabicPeriod" startAt="1"/>
            </a:pPr>
            <a:r>
              <a:rPr lang="es-ES" altLang="en-US" sz="2000" dirty="0">
                <a:solidFill>
                  <a:srgbClr val="1D2430"/>
                </a:solidFill>
              </a:rPr>
              <a:t>Envía tus commits locales hacia la nube utilizando el comando correspondiente para subir la información.</a:t>
            </a:r>
            <a:endParaRPr lang="en-US" sz="2000" dirty="0"/>
          </a:p>
          <a:p>
            <a:pPr indent="0" marL="0">
              <a:spcAft>
                <a:spcPts val="600"/>
              </a:spcAft>
              <a:buNone/>
            </a:pPr>
            <a:r>
              <a:rPr lang="es-ES" altLang="en-US" sz="2000" dirty="0">
                <a:solidFill>
                  <a:srgbClr val="1D2430"/>
                </a:solidFill>
              </a:rPr>
              <a:t>Recuerda que este ejercicio es una simulación formativa general para afianzar los conceptos estudiados sobre control de versiones remoto.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aprobar: 60 %</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1</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¿Cuál es la función principal del comando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git push</a:t>
            </a:r>
            <a:pPr indent="0" marL="0">
              <a:spcAft>
                <a:spcPts val="600"/>
              </a:spcAft>
              <a:buNone/>
            </a:pPr>
            <a:r>
              <a:rPr lang="es-ES" altLang="en-US" sz="2000" dirty="0">
                <a:solidFill>
                  <a:srgbClr val="1D2430"/>
                </a:solidFill>
              </a:rPr>
              <a:t>?</a:t>
            </a:r>
            <a:endParaRPr lang="en-US" sz="2000" dirty="0"/>
          </a:p>
          <a:p>
            <a:pPr marL="342900" indent="-342900">
              <a:spcAft>
                <a:spcPts val="600"/>
              </a:spcAft>
              <a:buSzPct val="100000"/>
              <a:buChar char="•"/>
            </a:pPr>
            <a:r>
              <a:rPr lang="es-ES" altLang="en-US" sz="2000" dirty="0">
                <a:solidFill>
                  <a:srgbClr val="1D2430"/>
                </a:solidFill>
              </a:rPr>
              <a:t>[ ] Descargar los cambios recientes desde la nube.</a:t>
            </a:r>
            <a:endParaRPr lang="en-US" sz="2000" dirty="0"/>
          </a:p>
          <a:p>
            <a:pPr marL="342900" indent="-342900">
              <a:spcAft>
                <a:spcPts val="600"/>
              </a:spcAft>
              <a:buSzPct val="100000"/>
              <a:buChar char="•"/>
            </a:pPr>
            <a:r>
              <a:rPr lang="es-ES" altLang="en-US" sz="2000" dirty="0">
                <a:solidFill>
                  <a:srgbClr val="1D2430"/>
                </a:solidFill>
              </a:rPr>
              <a:t>[x] Enviar los commits locales hacia el repositorio remoto.</a:t>
            </a:r>
            <a:endParaRPr lang="en-US" sz="2000" dirty="0"/>
          </a:p>
          <a:p>
            <a:pPr marL="342900" indent="-342900">
              <a:spcAft>
                <a:spcPts val="600"/>
              </a:spcAft>
              <a:buSzPct val="100000"/>
              <a:buChar char="•"/>
            </a:pPr>
            <a:r>
              <a:rPr lang="es-ES" altLang="en-US" sz="2000" dirty="0">
                <a:solidFill>
                  <a:srgbClr val="1D2430"/>
                </a:solidFill>
              </a:rPr>
              <a:t>[ ] Crear un nuevo repositorio en la computadora.</a:t>
            </a:r>
            <a:endParaRPr lang="en-US" sz="2000" dirty="0"/>
          </a:p>
          <a:p>
            <a:pPr marL="342900" indent="-342900">
              <a:spcAft>
                <a:spcPts val="600"/>
              </a:spcAft>
              <a:buSzPct val="100000"/>
              <a:buChar char="•"/>
            </a:pPr>
            <a:r>
              <a:rPr lang="es-ES" altLang="en-US" sz="2000" dirty="0">
                <a:solidFill>
                  <a:srgbClr val="1D2430"/>
                </a:solidFill>
              </a:rPr>
              <a:t>[ ] Vincular el proyecto con una dirección URL.</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comando git push se utiliza específicamente para enviar los commits locales hacia el repositorio remoto en la nube.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2</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El repositorio remoto es la versión de tu proyecto que se encuentra alojada en los servidores de GitHub.</a:t>
            </a:r>
            <a:endParaRPr lang="en-US" sz="2000" dirty="0"/>
          </a:p>
          <a:p>
            <a:pPr marL="342900" indent="-342900">
              <a:spcAft>
                <a:spcPts val="600"/>
              </a:spcAft>
              <a:buSzPct val="100000"/>
              <a:buChar char="•"/>
            </a:pPr>
            <a:r>
              <a:rPr lang="es-ES" altLang="en-US" sz="2000" dirty="0">
                <a:solidFill>
                  <a:srgbClr val="1D2430"/>
                </a:solidFill>
              </a:rPr>
              <a:t>[x] Verdadero</a:t>
            </a:r>
            <a:endParaRPr lang="en-US" sz="2000" dirty="0"/>
          </a:p>
          <a:p>
            <a:pPr marL="342900" indent="-342900">
              <a:spcAft>
                <a:spcPts val="600"/>
              </a:spcAft>
              <a:buSzPct val="100000"/>
              <a:buChar char="•"/>
            </a:pPr>
            <a:r>
              <a:rPr lang="es-ES" altLang="en-US" sz="2000" dirty="0">
                <a:solidFill>
                  <a:srgbClr val="1D2430"/>
                </a:solidFill>
              </a:rPr>
              <a:t>[ ] Falso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Es verdadero. El repositorio remoto vive en la nube (en plataformas como GitHub), mientras que el local está en tu ordenador.</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3</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Escribe el comando de Git que se utiliza para descargar y fusionar los cambios de la nube en tu equipo local.</a:t>
            </a:r>
            <a:endParaRPr lang="en-US" sz="2000" dirty="0"/>
          </a:p>
          <a:p>
            <a:pPr indent="0" marL="0">
              <a:spcAft>
                <a:spcPts val="600"/>
              </a:spcAft>
              <a:buNone/>
            </a:pPr>
            <a:r>
              <a:rPr lang="es-ES" altLang="en-US" sz="2000" dirty="0">
                <a:solidFill>
                  <a:srgbClr val="1D2430"/>
                </a:solidFill>
              </a:rPr>
              <a:t>Respuestas aceptadas: git pull</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comando correcto es git pull.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4</a:t>
            </a:r>
            <a:pPr indent="0" marL="0">
              <a:spcAft>
                <a:spcPts val="600"/>
              </a:spcAft>
              <a:buNone/>
            </a:pPr>
            <a:r>
              <a:rPr lang="es-ES" altLang="en-US" sz="2000" dirty="0">
                <a:solidFill>
                  <a:srgbClr val="1D2430"/>
                </a:solidFill>
              </a:rPr>
              <a:t> (2 puntos)</a:t>
            </a:r>
            <a:endParaRPr lang="en-US" sz="2000" dirty="0"/>
          </a:p>
          <a:p>
            <a:pPr indent="0" marL="0">
              <a:spcAft>
                <a:spcPts val="600"/>
              </a:spcAft>
              <a:buNone/>
            </a:pPr>
            <a:r>
              <a:rPr lang="es-ES" altLang="en-US" sz="2000" dirty="0">
                <a:solidFill>
                  <a:srgbClr val="1D2430"/>
                </a:solidFill>
              </a:rPr>
              <a:t>Relaciona cada concepto o comando con su descripción correspondiente: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1D2430"/>
                          </a:solidFill>
                        </a:rPr>
                        <a:t>Elementos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c>
                  <a:txBody>
                    <a:bodyPr/>
                    <a:lstStyle/>
                    <a:p>
                      <a:pPr indent="0" marL="0">
                        <a:buNone/>
                      </a:pPr>
                      <a:r>
                        <a:rPr lang="en-US" sz="1400" b="1" dirty="0">
                          <a:solidFill>
                            <a:srgbClr val="1D2430"/>
                          </a:solidFill>
                        </a:rPr>
                        <a:t>Opciones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r>
              <a:tr h="0">
                <a:tc>
                  <a:txBody>
                    <a:bodyPr/>
                    <a:lstStyle/>
                    <a:p>
                      <a:pPr indent="0" marL="0">
                        <a:buNone/>
                      </a:pPr>
                      <a:r>
                        <a:rPr lang="en-US" sz="1400" dirty="0">
                          <a:solidFill>
                            <a:srgbClr val="1D2430"/>
                          </a:solidFill>
                        </a:rPr>
                        <a:t>Repositorio local</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Versión del proyecto almacenada en tu computadora</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git push</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Envía los commits hacia el servidor remoto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git pull</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Descarga y fusiona actualizaciones de la nube</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bl>
          </a:graphicData>
        </a:graphic>
      </p:graphicFrame>
      <p:sp>
        <p:nvSpPr>
          <p:cNvPr id="6"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Llevando tu código a la nube con GitHub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Llevando tu código a la nube con GitHub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Cada término se corresponde directamente con su función principal dentro del flujo de trabajo con Git y GitHub.</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Primeros pasos con Git y GitHub</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Primeros pasos con Git y GitHub</dc:title>
  <dc:subject>Este curso introduce los conceptos fundamentales del control de versiones utilizando Git y la plataforma colaborativa GitHub. Está diseñado específicamente para personas que se inician en la programación y desean aprender a gestionar sus proyectos de forma ordenada y profesional. Recuerde que este material es de carácter formativo general y está orientado al autoaprendizaje básico.</dc:subject>
  <dc:creator>Generador de cursos</dc:creator>
  <cp:lastModifiedBy>Generador de cursos</cp:lastModifiedBy>
  <cp:revision>1</cp:revision>
  <dcterms:created xsi:type="dcterms:W3CDTF">2026-10-31T19:23:08Z</dcterms:created>
  <dcterms:modified xsi:type="dcterms:W3CDTF">2026-10-31T19:23:08Z</dcterms:modified>
</cp:coreProperties>
</file>