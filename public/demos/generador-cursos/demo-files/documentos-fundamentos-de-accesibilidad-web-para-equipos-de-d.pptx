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F3FB"/>
        </a:solidFill>
      </p:bgPr>
    </p:bg>
    <p:spTree>
      <p:nvGrpSpPr>
        <p:cNvPr id="1" name=""/>
        <p:cNvGrpSpPr/>
        <p:nvPr/>
      </p:nvGrpSpPr>
      <p:grpSpPr>
        <a:xfrm>
          <a:off x="0" y="0"/>
          <a:ext cx="0" cy="0"/>
          <a:chOff x="0" y="0"/>
          <a:chExt cx="0" cy="0"/>
        </a:xfrm>
      </p:grpSpPr>
      <p:sp>
        <p:nvSpPr>
          <p:cNvPr id="2" name="Text 0"/>
          <p:cNvSpPr/>
          <p:nvPr/>
        </p:nvSpPr>
        <p:spPr>
          <a:xfrm>
            <a:off x="548640" y="2011680"/>
            <a:ext cx="11091672" cy="1463040"/>
          </a:xfrm>
          <a:prstGeom prst="rect">
            <a:avLst/>
          </a:prstGeom>
          <a:noFill/>
          <a:ln/>
        </p:spPr>
        <p:txBody>
          <a:bodyPr wrap="square" rtlCol="0" anchor="ctr">
            <a:normAutofit/>
          </a:bodyPr>
          <a:lstStyle/>
          <a:p>
            <a:pPr indent="0" marL="0">
              <a:buNone/>
            </a:pPr>
            <a:r>
              <a:rPr lang="en-US" sz="4000" b="1" dirty="0">
                <a:solidFill>
                  <a:srgbClr val="1D2430"/>
                </a:solidFill>
              </a:rPr>
              <a:t>Fundamentos de Accesibilidad Web para Equipos de Desarrollo</a:t>
            </a:r>
            <a:endParaRPr lang="en-US" sz="4000" dirty="0"/>
          </a:p>
        </p:txBody>
      </p:sp>
      <p:sp>
        <p:nvSpPr>
          <p:cNvPr id="3" name="Text 1"/>
          <p:cNvSpPr/>
          <p:nvPr/>
        </p:nvSpPr>
        <p:spPr>
          <a:xfrm>
            <a:off x="548640" y="3566160"/>
            <a:ext cx="11091672" cy="1097280"/>
          </a:xfrm>
          <a:prstGeom prst="rect">
            <a:avLst/>
          </a:prstGeom>
          <a:noFill/>
          <a:ln/>
        </p:spPr>
        <p:txBody>
          <a:bodyPr wrap="square" rtlCol="0" anchor="ctr">
            <a:normAutofit/>
          </a:bodyPr>
          <a:lstStyle/>
          <a:p>
            <a:pPr indent="0" marL="0">
              <a:buNone/>
            </a:pPr>
            <a:r>
              <a:rPr lang="en-US" sz="2000" dirty="0">
                <a:solidFill>
                  <a:srgbClr val="5B6678"/>
                </a:solidFill>
              </a:rPr>
              <a:t>Curso práctico de nivel principiante enfocado en enseñar a desarrolladores web los principios básicos de accesibilidad, diseño inclusivo y buenas prácticas de programación según las pautas WCAG. Aprenderás a estructurar contenido semántico, gestionar el contraste, asegurar la navegación por teclado y aplicar comprobaciones efectivas antes de publicar.</a:t>
            </a:r>
            <a:endParaRPr lang="en-US" sz="2000" dirty="0"/>
          </a:p>
        </p:txBody>
      </p:sp>
      <p:sp>
        <p:nvSpPr>
          <p:cNvPr id="4" name="Text 2"/>
          <p:cNvSpPr/>
          <p:nvPr/>
        </p:nvSpPr>
        <p:spPr>
          <a:xfrm>
            <a:off x="548640" y="5120640"/>
            <a:ext cx="11091672" cy="1097280"/>
          </a:xfrm>
          <a:prstGeom prst="rect">
            <a:avLst/>
          </a:prstGeom>
          <a:noFill/>
          <a:ln/>
        </p:spPr>
        <p:txBody>
          <a:bodyPr wrap="square" rtlCol="0" anchor="ctr">
            <a:normAutofit/>
          </a:bodyPr>
          <a:lstStyle/>
          <a:p>
            <a:pPr indent="0" marL="0">
              <a:buNone/>
            </a:pPr>
            <a:r>
              <a:rPr lang="en-US" sz="1400" dirty="0">
                <a:solidFill>
                  <a:srgbClr val="5B6678"/>
                </a:solidFill>
              </a:rPr>
              <a:t>Parte de este contenido se ha generado con ayuda de inteligencia artificial. Revísalo antes de usarlo.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 </a:t>
            </a:r>
            <a:endParaRPr lang="en-US" sz="2800" dirty="0"/>
          </a:p>
        </p:txBody>
      </p:sp>
      <p:sp>
        <p:nvSpPr>
          <p:cNvPr id="3" name="Shape 1"/>
          <p:cNvSpPr/>
          <p:nvPr/>
        </p:nvSpPr>
        <p:spPr>
          <a:xfrm>
            <a:off x="548640" y="1417320"/>
            <a:ext cx="11091672" cy="0"/>
          </a:xfrm>
          <a:prstGeom prst="line">
            <a:avLst/>
          </a:prstGeom>
          <a:noFill/>
          <a:ln w="19050">
            <a:solidFill>
              <a:srgbClr val="1F5FBF"/>
            </a:solidFill>
            <a:prstDash val="solid"/>
          </a:ln>
        </p:spPr>
      </p:sp>
      <p:sp>
        <p:nvSpPr>
          <p:cNvPr id="4" name="Text 2"/>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Curso práctico de nivel principiante enfocado en enseñar a desarrolladores web los principios básicos de accesibilidad, diseño inclusivo y buenas prácticas de programación según las pautas WCAG. Aprenderás a estructurar contenido semántico, gestionar el contraste, asegurar la navegación por teclado y aplicar comprobaciones efectivas antes de publicar.</a:t>
            </a:r>
            <a:endParaRPr lang="en-US" sz="2000" dirty="0"/>
          </a:p>
        </p:txBody>
      </p:sp>
      <p:sp>
        <p:nvSpPr>
          <p:cNvPr id="5" name="Text 3"/>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3FB"/>
        </a:solidFill>
      </p:bgPr>
    </p:bg>
    <p:spTree>
      <p:nvGrpSpPr>
        <p:cNvPr id="1" name=""/>
        <p:cNvGrpSpPr/>
        <p:nvPr/>
      </p:nvGrpSpPr>
      <p:grpSpPr>
        <a:xfrm>
          <a:off x="0" y="0"/>
          <a:ext cx="0" cy="0"/>
          <a:chOff x="0" y="0"/>
          <a:chExt cx="0" cy="0"/>
        </a:xfrm>
      </p:grpSpPr>
      <p:sp>
        <p:nvSpPr>
          <p:cNvPr id="2" name="Text 0"/>
          <p:cNvSpPr/>
          <p:nvPr/>
        </p:nvSpPr>
        <p:spPr>
          <a:xfrm>
            <a:off x="548640" y="2560320"/>
            <a:ext cx="11091672" cy="1463040"/>
          </a:xfrm>
          <a:prstGeom prst="rect">
            <a:avLst/>
          </a:prstGeom>
          <a:noFill/>
          <a:ln/>
        </p:spPr>
        <p:txBody>
          <a:bodyPr wrap="square" rtlCol="0" anchor="ctr">
            <a:normAutofit/>
          </a:bodyPr>
          <a:lstStyle/>
          <a:p>
            <a:pPr indent="0" marL="0">
              <a:buNone/>
            </a:pPr>
            <a:r>
              <a:rPr lang="en-US" sz="3400" b="1" dirty="0">
                <a:solidFill>
                  <a:srgbClr val="1F5FBF"/>
                </a:solidFill>
              </a:rPr>
              <a:t>Objetivos</a:t>
            </a:r>
            <a:endParaRPr lang="en-US" sz="34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Objetivos</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Objetivos</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marL="342900" indent="-342900">
              <a:spcAft>
                <a:spcPts val="600"/>
              </a:spcAft>
              <a:buSzPct val="100000"/>
              <a:buChar char="•"/>
            </a:pPr>
            <a:r>
              <a:rPr lang="es-ES" altLang="en-US" sz="2000" dirty="0">
                <a:solidFill>
                  <a:srgbClr val="1D2430"/>
                </a:solidFill>
              </a:rPr>
              <a:t>Comprender la importancia de la accesibilidad web y los cuatro principios POUR.</a:t>
            </a:r>
            <a:endParaRPr lang="en-US" sz="2000" dirty="0"/>
          </a:p>
          <a:p>
            <a:pPr marL="342900" indent="-342900">
              <a:spcAft>
                <a:spcPts val="600"/>
              </a:spcAft>
              <a:buSzPct val="100000"/>
              <a:buChar char="•"/>
            </a:pPr>
            <a:r>
              <a:rPr lang="es-ES" altLang="en-US" sz="2000" dirty="0">
                <a:solidFill>
                  <a:srgbClr val="1D2430"/>
                </a:solidFill>
              </a:rPr>
              <a:t>Implementar una estructura HTML semántica y utilizar adecuadamente el texto alternativo en imágenes.</a:t>
            </a:r>
            <a:endParaRPr lang="en-US" sz="2000" dirty="0"/>
          </a:p>
          <a:p>
            <a:pPr marL="342900" indent="-342900">
              <a:spcAft>
                <a:spcPts val="600"/>
              </a:spcAft>
              <a:buSzPct val="100000"/>
              <a:buChar char="•"/>
            </a:pPr>
            <a:r>
              <a:rPr lang="es-ES" altLang="en-US" sz="2000" dirty="0">
                <a:solidFill>
                  <a:srgbClr val="1D2430"/>
                </a:solidFill>
              </a:rPr>
              <a:t>Garantizar una correcta navegación por teclado y el diseño de formularios accesibles.</a:t>
            </a:r>
            <a:endParaRPr lang="en-US" sz="2000" dirty="0"/>
          </a:p>
          <a:p>
            <a:pPr marL="342900" indent="-342900">
              <a:spcAft>
                <a:spcPts val="600"/>
              </a:spcAft>
              <a:buSzPct val="100000"/>
              <a:buChar char="•"/>
            </a:pPr>
            <a:r>
              <a:rPr lang="es-ES" altLang="en-US" sz="2000" dirty="0">
                <a:solidFill>
                  <a:srgbClr val="1D2430"/>
                </a:solidFill>
              </a:rPr>
              <a:t>Aplicar los criterios de contraste de color y las excepciones correspondientes.</a:t>
            </a:r>
            <a:endParaRPr lang="en-US" sz="2000" dirty="0"/>
          </a:p>
          <a:p>
            <a:pPr marL="342900" indent="-342900">
              <a:spcAft>
                <a:spcPts val="600"/>
              </a:spcAft>
              <a:buSzPct val="100000"/>
              <a:buChar char="•"/>
            </a:pPr>
            <a:r>
              <a:rPr lang="es-ES" altLang="en-US" sz="2000" dirty="0">
                <a:solidFill>
                  <a:srgbClr val="1D2430"/>
                </a:solidFill>
              </a:rPr>
              <a:t>Realizar comprobaciones y auditorías de accesibilidad antes de publicar contenido.</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3FB"/>
        </a:solidFill>
      </p:bgPr>
    </p:bg>
    <p:spTree>
      <p:nvGrpSpPr>
        <p:cNvPr id="1" name=""/>
        <p:cNvGrpSpPr/>
        <p:nvPr/>
      </p:nvGrpSpPr>
      <p:grpSpPr>
        <a:xfrm>
          <a:off x="0" y="0"/>
          <a:ext cx="0" cy="0"/>
          <a:chOff x="0" y="0"/>
          <a:chExt cx="0" cy="0"/>
        </a:xfrm>
      </p:grpSpPr>
      <p:sp>
        <p:nvSpPr>
          <p:cNvPr id="2" name="Text 0"/>
          <p:cNvSpPr/>
          <p:nvPr/>
        </p:nvSpPr>
        <p:spPr>
          <a:xfrm>
            <a:off x="548640" y="2560320"/>
            <a:ext cx="11091672" cy="1463040"/>
          </a:xfrm>
          <a:prstGeom prst="rect">
            <a:avLst/>
          </a:prstGeom>
          <a:noFill/>
          <a:ln/>
        </p:spPr>
        <p:txBody>
          <a:bodyPr wrap="square" rtlCol="0" anchor="ctr">
            <a:normAutofit/>
          </a:bodyPr>
          <a:lstStyle/>
          <a:p>
            <a:pPr indent="0" marL="0">
              <a:buNone/>
            </a:pPr>
            <a:r>
              <a:rPr lang="en-US" sz="3400" b="1" dirty="0">
                <a:solidFill>
                  <a:srgbClr val="1F5FBF"/>
                </a:solidFill>
              </a:rPr>
              <a:t>Módulo 1: Introducción y Principios de la Accesibilidad Web</a:t>
            </a:r>
            <a:endParaRPr lang="en-US" sz="34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Módulo 1: Introducción y Principios de la Accesibilidad Web</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Módulo 1: Introducción y Principios de la Accesibilidad Web</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Conoce por qué importa la accesibilidad y cuáles son los cuatro principios fundamentales y los niveles de conformidad.</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Por qué importa la accesibilidad y el marco normativo (10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Introducción a la accesibilidad web</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Esta guía resume lo esencial para construir sitios web que puedan usar personas con discapacidad visual, auditiva, motriz o cognitiva. Está pensada para quien empieza y no sustituye a las pautas oficiales.</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Por qué importa la accesibilidad y el marco normativo (10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Por qué importa la accesibilidad</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Una web accesible permite que una mayor diversidad de usuarios pueda interactuar con ella. Esto incluye a personas ciegas que emplean lectores de pantalla, usuarios con baja visión que necesitan ampliar el contenido, personas que no pueden utilizar el ratón, usuarios sordos y personas con dificultades de atención o lectura.</a:t>
            </a:r>
            <a:endParaRPr lang="en-US" sz="2000" dirty="0"/>
          </a:p>
          <a:p>
            <a:pPr indent="0" marL="0">
              <a:spcAft>
                <a:spcPts val="600"/>
              </a:spcAft>
              <a:buNone/>
            </a:pPr>
            <a:r>
              <a:rPr lang="es-ES" altLang="en-US" sz="2000" dirty="0">
                <a:solidFill>
                  <a:srgbClr val="1D2430"/>
                </a:solidFill>
              </a:rPr>
              <a:t>Asimismo, los beneficios se extienden a cualquier persona en situaciones cotidianas o temporales, como navegar bajo luz solar intensa con el teléfono móvil, tener un brazo inmovilizado o disponer de una conexión a internet lenta.</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Por qué importa la accesibilidad y el marco normativo (10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Obligaciones legales y eficiencia en el desarrollo</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Además de la inclusión social, la normativa exige la accesibilidad en muchos países para los sitios web de las administraciones públicas y determinados servicios de carácter privado. Desde el punto de vista del desarrollo de software, solucionar los fallos de accesibilidad desde las etapas iniciales del proyecto resulta considerablemente más económico que intentar corregirlos una vez que el contenido ya ha sido publicado.</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Por qué importa la accesibilidad y el marco normativo (10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Resumen de la lección</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En esta lección hemos visto que la accesibilidad web es fundamental no solo por motivos legales en el ámbito público y privado, sino también para garantizar la usabilidad a personas con diferentes tipos de discapacidad y a cualquier usuario en situaciones temporales adversas. Integrar estos criterios desde el inicio del desarrollo optimiza costes y esfuerzo.</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Los cuatro principios POUR y los niveles de conformidad (10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Introducción a los principios POUR</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Las Pautas de Accesibilidad para el Contenido Web (WCAG) se organizan en cuatro principios fundamentales conocidos por sus siglas en inglés como POUR. Estos principios garantizan que cualquier desarrollo web sea verdaderamente accesible para todos los usuarios.</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Los cuatro principios POUR y los niveles de conformidad (10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Los cuatro principios de la accesibilidad</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Para que una página cumpla con la normativa, debe basarse en las siguientes características:</a:t>
            </a:r>
            <a:endParaRPr lang="en-US" sz="2000" dirty="0"/>
          </a:p>
          <a:p>
            <a:pPr marL="342900" indent="-342900">
              <a:spcAft>
                <a:spcPts val="600"/>
              </a:spcAft>
              <a:buSzPct val="100000"/>
              <a:buChar char="•"/>
            </a:pPr>
            <a:r>
              <a:rPr lang="es-ES" altLang="en-US" sz="2000" b="1" dirty="0">
                <a:solidFill>
                  <a:srgbClr val="1D2430"/>
                </a:solidFill>
              </a:rPr>
              <a:t>Perceptible:</a:t>
            </a:r>
            <a:endParaRPr lang="en-US" sz="2000" dirty="0"/>
          </a:p>
          <a:p>
            <a:pPr marL="342900" indent="-342900">
              <a:spcAft>
                <a:spcPts val="600"/>
              </a:spcAft>
              <a:buSzPct val="100000"/>
              <a:buChar char="•"/>
            </a:pPr>
            <a:r>
              <a:rPr lang="es-ES" altLang="en-US" sz="2000" dirty="0">
                <a:solidFill>
                  <a:srgbClr val="1D2430"/>
                </a:solidFill>
              </a:rPr>
              <a:t> la información y los componentes se pueden percibir. Por ejemplo, las imágenes tienen texto alternativo y los vídeos tienen subtítulos.</a:t>
            </a:r>
            <a:endParaRPr lang="en-US" sz="2000" dirty="0"/>
          </a:p>
          <a:p>
            <a:pPr marL="342900" indent="-342900">
              <a:spcAft>
                <a:spcPts val="600"/>
              </a:spcAft>
              <a:buSzPct val="100000"/>
              <a:buChar char="•"/>
            </a:pPr>
            <a:r>
              <a:rPr lang="es-ES" altLang="en-US" sz="2000" b="1" dirty="0">
                <a:solidFill>
                  <a:srgbClr val="1D2430"/>
                </a:solidFill>
              </a:rPr>
              <a:t>Operable:</a:t>
            </a:r>
            <a:endParaRPr lang="en-US" sz="2000" dirty="0"/>
          </a:p>
          <a:p>
            <a:pPr marL="342900" indent="-342900">
              <a:spcAft>
                <a:spcPts val="600"/>
              </a:spcAft>
              <a:buSzPct val="100000"/>
              <a:buChar char="•"/>
            </a:pPr>
            <a:r>
              <a:rPr lang="es-ES" altLang="en-US" sz="2000" dirty="0">
                <a:solidFill>
                  <a:srgbClr val="1D2430"/>
                </a:solidFill>
              </a:rPr>
              <a:t> se puede manejar con distintos dispositivos. Todo funciona con teclado y no hay límites de tiempo injustos.</a:t>
            </a:r>
            <a:endParaRPr lang="en-US" sz="2000" dirty="0"/>
          </a:p>
          <a:p>
            <a:pPr marL="342900" indent="-342900">
              <a:spcAft>
                <a:spcPts val="600"/>
              </a:spcAft>
              <a:buSzPct val="100000"/>
              <a:buChar char="•"/>
            </a:pPr>
            <a:r>
              <a:rPr lang="es-ES" altLang="en-US" sz="2000" b="1" dirty="0">
                <a:solidFill>
                  <a:srgbClr val="1D2430"/>
                </a:solidFill>
              </a:rPr>
              <a:t>Comprensible:</a:t>
            </a:r>
            <a:endParaRPr lang="en-US" sz="2000" dirty="0"/>
          </a:p>
          <a:p>
            <a:pPr marL="342900" indent="-342900">
              <a:spcAft>
                <a:spcPts val="600"/>
              </a:spcAft>
              <a:buSzPct val="100000"/>
              <a:buChar char="•"/>
            </a:pPr>
            <a:r>
              <a:rPr lang="es-ES" altLang="en-US" sz="2000" dirty="0">
                <a:solidFill>
                  <a:srgbClr val="1D2430"/>
                </a:solidFill>
              </a:rPr>
              <a:t> el contenido y el funcionamiento se entienden. Los formularios explican sus errores y la navegación es coherente.</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Los cuatro principios POUR y los niveles de conformidad (10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Los cuatro principios de la accesibilidad (cont.)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marL="342900" indent="-342900">
              <a:spcAft>
                <a:spcPts val="600"/>
              </a:spcAft>
              <a:buSzPct val="100000"/>
              <a:buChar char="•"/>
            </a:pPr>
            <a:r>
              <a:rPr lang="es-ES" altLang="en-US" sz="2000" b="1" dirty="0">
                <a:solidFill>
                  <a:srgbClr val="1D2430"/>
                </a:solidFill>
              </a:rPr>
              <a:t>Robusto:</a:t>
            </a:r>
            <a:endParaRPr lang="en-US" sz="2000" dirty="0"/>
          </a:p>
          <a:p>
            <a:pPr marL="342900" indent="-342900">
              <a:spcAft>
                <a:spcPts val="600"/>
              </a:spcAft>
              <a:buSzPct val="100000"/>
              <a:buChar char="•"/>
            </a:pPr>
            <a:r>
              <a:rPr lang="es-ES" altLang="en-US" sz="2000" dirty="0">
                <a:solidFill>
                  <a:srgbClr val="1D2430"/>
                </a:solidFill>
              </a:rPr>
              <a:t> el contenido funciona con tecnologías actuales y futuras, incluidos los productos de apoyo. Para eso se usa HTML válido y semántico.</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Los cuatro principios POUR y los niveles de conformidad (10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Niveles de conformidad WCAG</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Además de los principios POUR, WCAG define tres niveles de conformidad: A, AA y AAA. El nivel A representa el mínimo indispensable, mientras que el nivel AA es el objetivo habitual y el que suele exigir la ley. Por su parte, el nivel AAA es el más estricto y exigente, por lo que no siempre es posible cumplirlo en todo el contenido. Salvo indicación contraria, los proyectos de desarrollo deben apuntar al nivel AA.</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Los cuatro principios POUR y los niveles de conformidad (10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Resumen de la lección</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Conocer los principios POUR (Perceptible, Operable, Comprensible y Robusto) y los niveles de conformidad (A, AA y AAA) es esencial para cualquier equipo de desarrollo que busque crear experiencias digitales accesibles y ajustadas a los estándares legales actuales.</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Actividades</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Identificación de los Principios POUR en un sitio web</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Revisa un sitio web de tu elección y redacta un breve análisis (de 3 a 5 líneas) identificando cómo se aplican los principios de </a:t>
            </a:r>
            <a:pPr indent="0" marL="0">
              <a:spcAft>
                <a:spcPts val="600"/>
              </a:spcAft>
              <a:buNone/>
            </a:pPr>
            <a:r>
              <a:rPr lang="es-ES" altLang="en-US" sz="2000" b="1" dirty="0">
                <a:solidFill>
                  <a:srgbClr val="1D2430"/>
                </a:solidFill>
              </a:rPr>
              <a:t>Perceptible</a:t>
            </a:r>
            <a:pPr indent="0" marL="0">
              <a:spcAft>
                <a:spcPts val="600"/>
              </a:spcAft>
              <a:buNone/>
            </a:pPr>
            <a:r>
              <a:rPr lang="es-ES" altLang="en-US" sz="2000" dirty="0">
                <a:solidFill>
                  <a:srgbClr val="1D2430"/>
                </a:solidFill>
              </a:rPr>
              <a:t>, </a:t>
            </a:r>
            <a:pPr indent="0" marL="0">
              <a:spcAft>
                <a:spcPts val="600"/>
              </a:spcAft>
              <a:buNone/>
            </a:pPr>
            <a:r>
              <a:rPr lang="es-ES" altLang="en-US" sz="2000" b="1" dirty="0">
                <a:solidFill>
                  <a:srgbClr val="1D2430"/>
                </a:solidFill>
              </a:rPr>
              <a:t>Operable</a:t>
            </a:r>
            <a:pPr indent="0" marL="0">
              <a:spcAft>
                <a:spcPts val="600"/>
              </a:spcAft>
              <a:buNone/>
            </a:pPr>
            <a:r>
              <a:rPr lang="es-ES" altLang="en-US" sz="2000" dirty="0">
                <a:solidFill>
                  <a:srgbClr val="1D2430"/>
                </a:solidFill>
              </a:rPr>
              <a:t>, </a:t>
            </a:r>
            <a:pPr indent="0" marL="0">
              <a:spcAft>
                <a:spcPts val="600"/>
              </a:spcAft>
              <a:buNone/>
            </a:pPr>
            <a:r>
              <a:rPr lang="es-ES" altLang="en-US" sz="2000" b="1" dirty="0">
                <a:solidFill>
                  <a:srgbClr val="1D2430"/>
                </a:solidFill>
              </a:rPr>
              <a:t>Comprensible</a:t>
            </a:r>
            <a:pPr indent="0" marL="0">
              <a:spcAft>
                <a:spcPts val="600"/>
              </a:spcAft>
              <a:buNone/>
            </a:pPr>
            <a:r>
              <a:rPr lang="es-ES" altLang="en-US" sz="2000" dirty="0">
                <a:solidFill>
                  <a:srgbClr val="1D2430"/>
                </a:solidFill>
              </a:rPr>
              <a:t> y </a:t>
            </a:r>
            <a:pPr indent="0" marL="0">
              <a:spcAft>
                <a:spcPts val="600"/>
              </a:spcAft>
              <a:buNone/>
            </a:pPr>
            <a:r>
              <a:rPr lang="es-ES" altLang="en-US" sz="2000" b="1" dirty="0">
                <a:solidFill>
                  <a:srgbClr val="1D2430"/>
                </a:solidFill>
              </a:rPr>
              <a:t>Robusto</a:t>
            </a:r>
            <a:pPr indent="0" marL="0">
              <a:spcAft>
                <a:spcPts val="600"/>
              </a:spcAft>
              <a:buNone/>
            </a:pPr>
            <a:r>
              <a:rPr lang="es-ES" altLang="en-US" sz="2000" dirty="0">
                <a:solidFill>
                  <a:srgbClr val="1D2430"/>
                </a:solidFill>
              </a:rPr>
              <a:t> en al menos dos de sus componentes principales.</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Introducción y Principios de la Accesibilidad Web</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Introducción y Principios de la Accesibilidad Web</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Para aprobar: 60 %</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Introducción y Principios de la Accesibilidad Web</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Introducción y Principios de la Accesibilidad Web</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1</a:t>
            </a:r>
            <a:pPr indent="0" marL="0">
              <a:spcAft>
                <a:spcPts val="600"/>
              </a:spcAft>
              <a:buNone/>
            </a:pPr>
            <a:r>
              <a:rPr lang="es-ES" altLang="en-US" sz="2000" dirty="0">
                <a:solidFill>
                  <a:srgbClr val="1D2430"/>
                </a:solidFill>
              </a:rPr>
              <a:t> (1 punto)</a:t>
            </a:r>
            <a:endParaRPr lang="en-US" sz="2000" dirty="0"/>
          </a:p>
          <a:p>
            <a:pPr indent="0" marL="0">
              <a:spcAft>
                <a:spcPts val="600"/>
              </a:spcAft>
              <a:buNone/>
            </a:pPr>
            <a:r>
              <a:rPr lang="es-ES" altLang="en-US" sz="2000" dirty="0">
                <a:solidFill>
                  <a:srgbClr val="1D2430"/>
                </a:solidFill>
              </a:rPr>
              <a:t>¿Cuál de los niveles de conformidad de las WCAG es considerado el objetivo habitual y el que suele exigir la ley?</a:t>
            </a:r>
            <a:endParaRPr lang="en-US" sz="2000" dirty="0"/>
          </a:p>
          <a:p>
            <a:pPr marL="342900" indent="-342900">
              <a:spcAft>
                <a:spcPts val="600"/>
              </a:spcAft>
              <a:buSzPct val="100000"/>
              <a:buChar char="•"/>
            </a:pPr>
            <a:r>
              <a:rPr lang="es-ES" altLang="en-US" sz="2000" dirty="0">
                <a:solidFill>
                  <a:srgbClr val="1D2430"/>
                </a:solidFill>
              </a:rPr>
              <a:t>[ ] Nivel A</a:t>
            </a:r>
            <a:endParaRPr lang="en-US" sz="2000" dirty="0"/>
          </a:p>
          <a:p>
            <a:pPr marL="342900" indent="-342900">
              <a:spcAft>
                <a:spcPts val="600"/>
              </a:spcAft>
              <a:buSzPct val="100000"/>
              <a:buChar char="•"/>
            </a:pPr>
            <a:r>
              <a:rPr lang="es-ES" altLang="en-US" sz="2000" dirty="0">
                <a:solidFill>
                  <a:srgbClr val="1D2430"/>
                </a:solidFill>
              </a:rPr>
              <a:t>[x] Nivel AA</a:t>
            </a:r>
            <a:endParaRPr lang="en-US" sz="2000" dirty="0"/>
          </a:p>
          <a:p>
            <a:pPr marL="342900" indent="-342900">
              <a:spcAft>
                <a:spcPts val="600"/>
              </a:spcAft>
              <a:buSzPct val="100000"/>
              <a:buChar char="•"/>
            </a:pPr>
            <a:r>
              <a:rPr lang="es-ES" altLang="en-US" sz="2000" dirty="0">
                <a:solidFill>
                  <a:srgbClr val="1D2430"/>
                </a:solidFill>
              </a:rPr>
              <a:t>[ ] Nivel AAA</a:t>
            </a:r>
            <a:endParaRPr lang="en-US" sz="2000" dirty="0"/>
          </a:p>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El nivel AA es el objetivo habitual y el exigido por la ley, mientras que el nivel A es el mínimo y el AAA es el más estricto.</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Introducción y Principios de la Accesibilidad Web</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Introducción y Principios de la Accesibilidad Web</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2</a:t>
            </a:r>
            <a:pPr indent="0" marL="0">
              <a:spcAft>
                <a:spcPts val="600"/>
              </a:spcAft>
              <a:buNone/>
            </a:pPr>
            <a:r>
              <a:rPr lang="es-ES" altLang="en-US" sz="2000" dirty="0">
                <a:solidFill>
                  <a:srgbClr val="1D2430"/>
                </a:solidFill>
              </a:rPr>
              <a:t> (1 punto)</a:t>
            </a:r>
            <a:endParaRPr lang="en-US" sz="2000" dirty="0"/>
          </a:p>
          <a:p>
            <a:pPr indent="0" marL="0">
              <a:spcAft>
                <a:spcPts val="600"/>
              </a:spcAft>
              <a:buNone/>
            </a:pPr>
            <a:r>
              <a:rPr lang="es-ES" altLang="en-US" sz="2000" dirty="0">
                <a:solidFill>
                  <a:srgbClr val="1D2430"/>
                </a:solidFill>
              </a:rPr>
              <a:t>Solucionar los fallos de accesibilidad desde las etapas iniciales de un proyecto de desarrollo resulta considerablemente más económico que corregirlos una vez publicado el contenido.</a:t>
            </a:r>
            <a:endParaRPr lang="en-US" sz="2000" dirty="0"/>
          </a:p>
          <a:p>
            <a:pPr marL="342900" indent="-342900">
              <a:spcAft>
                <a:spcPts val="600"/>
              </a:spcAft>
              <a:buSzPct val="100000"/>
              <a:buChar char="•"/>
            </a:pPr>
            <a:r>
              <a:rPr lang="es-ES" altLang="en-US" sz="2000" dirty="0">
                <a:solidFill>
                  <a:srgbClr val="1D2430"/>
                </a:solidFill>
              </a:rPr>
              <a:t>[x] Verdadero</a:t>
            </a:r>
            <a:endParaRPr lang="en-US" sz="2000" dirty="0"/>
          </a:p>
          <a:p>
            <a:pPr marL="342900" indent="-342900">
              <a:spcAft>
                <a:spcPts val="600"/>
              </a:spcAft>
              <a:buSzPct val="100000"/>
              <a:buChar char="•"/>
            </a:pPr>
            <a:r>
              <a:rPr lang="es-ES" altLang="en-US" sz="2000" dirty="0">
                <a:solidFill>
                  <a:srgbClr val="1D2430"/>
                </a:solidFill>
              </a:rPr>
              <a:t>[ ] Falso</a:t>
            </a:r>
            <a:endParaRPr lang="en-US" sz="2000" dirty="0"/>
          </a:p>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Integrar estos criterios desde el inicio del proyecto optimiza costes y esfuerzo en comparación con corregirlos al final.</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Introducción y Principios de la Accesibilidad Web</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Introducción y Principios de la Accesibilidad Web</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3</a:t>
            </a:r>
            <a:pPr indent="0" marL="0">
              <a:spcAft>
                <a:spcPts val="600"/>
              </a:spcAft>
              <a:buNone/>
            </a:pPr>
            <a:r>
              <a:rPr lang="es-ES" altLang="en-US" sz="2000" dirty="0">
                <a:solidFill>
                  <a:srgbClr val="1D2430"/>
                </a:solidFill>
              </a:rPr>
              <a:t> (2 puntos)</a:t>
            </a:r>
            <a:endParaRPr lang="en-US" sz="2000" dirty="0"/>
          </a:p>
          <a:p>
            <a:pPr indent="0" marL="0">
              <a:spcAft>
                <a:spcPts val="600"/>
              </a:spcAft>
              <a:buNone/>
            </a:pPr>
            <a:r>
              <a:rPr lang="es-ES" altLang="en-US" sz="2000" dirty="0">
                <a:solidFill>
                  <a:srgbClr val="1D2430"/>
                </a:solidFill>
              </a:rPr>
              <a:t>Relaciona cada uno de los cuatro principios de las WCAG (POUR) con su característica correspondiente descrita en el contenido:</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Introducción y Principios de la Accesibilidad Web</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Introducción y Principios de la Accesibilidad Web</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5545836"/>
                <a:gridCol w="5545836"/>
              </a:tblGrid>
              <a:tr h="0">
                <a:tc>
                  <a:txBody>
                    <a:bodyPr/>
                    <a:lstStyle/>
                    <a:p>
                      <a:pPr indent="0" marL="0">
                        <a:buNone/>
                      </a:pPr>
                      <a:r>
                        <a:rPr lang="en-US" sz="1400" b="1" dirty="0">
                          <a:solidFill>
                            <a:srgbClr val="1D2430"/>
                          </a:solidFill>
                        </a:rPr>
                        <a:t>Elementos</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solidFill>
                      <a:srgbClr val="EEF3FB"/>
                    </a:solidFill>
                  </a:tcPr>
                </a:tc>
                <a:tc>
                  <a:txBody>
                    <a:bodyPr/>
                    <a:lstStyle/>
                    <a:p>
                      <a:pPr indent="0" marL="0">
                        <a:buNone/>
                      </a:pPr>
                      <a:r>
                        <a:rPr lang="en-US" sz="1400" b="1" dirty="0">
                          <a:solidFill>
                            <a:srgbClr val="1D2430"/>
                          </a:solidFill>
                        </a:rPr>
                        <a:t>Opciones</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solidFill>
                      <a:srgbClr val="EEF3FB"/>
                    </a:solidFill>
                  </a:tcPr>
                </a:tc>
              </a:tr>
              <a:tr h="0">
                <a:tc>
                  <a:txBody>
                    <a:bodyPr/>
                    <a:lstStyle/>
                    <a:p>
                      <a:pPr indent="0" marL="0">
                        <a:buNone/>
                      </a:pPr>
                      <a:r>
                        <a:rPr lang="en-US" sz="1400" dirty="0">
                          <a:solidFill>
                            <a:srgbClr val="1D2430"/>
                          </a:solidFill>
                        </a:rPr>
                        <a:t>Perceptible</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c>
                  <a:txBody>
                    <a:bodyPr/>
                    <a:lstStyle/>
                    <a:p>
                      <a:pPr indent="0" marL="0">
                        <a:buNone/>
                      </a:pPr>
                      <a:r>
                        <a:rPr lang="en-US" sz="1400" dirty="0">
                          <a:solidFill>
                            <a:srgbClr val="1D2430"/>
                          </a:solidFill>
                        </a:rPr>
                        <a:t>La información y los componentes se pueden percibir (ej. imágenes con texto alternativo)</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r>
              <a:tr h="0">
                <a:tc>
                  <a:txBody>
                    <a:bodyPr/>
                    <a:lstStyle/>
                    <a:p>
                      <a:pPr indent="0" marL="0">
                        <a:buNone/>
                      </a:pPr>
                      <a:r>
                        <a:rPr lang="en-US" sz="1400" dirty="0">
                          <a:solidFill>
                            <a:srgbClr val="1D2430"/>
                          </a:solidFill>
                        </a:rPr>
                        <a:t>Operable</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c>
                  <a:txBody>
                    <a:bodyPr/>
                    <a:lstStyle/>
                    <a:p>
                      <a:pPr indent="0" marL="0">
                        <a:buNone/>
                      </a:pPr>
                      <a:r>
                        <a:rPr lang="en-US" sz="1400" dirty="0">
                          <a:solidFill>
                            <a:srgbClr val="1D2430"/>
                          </a:solidFill>
                        </a:rPr>
                        <a:t>Se puede manejar con distintos dispositivos y funciona con teclado</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r>
              <a:tr h="0">
                <a:tc>
                  <a:txBody>
                    <a:bodyPr/>
                    <a:lstStyle/>
                    <a:p>
                      <a:pPr indent="0" marL="0">
                        <a:buNone/>
                      </a:pPr>
                      <a:r>
                        <a:rPr lang="en-US" sz="1400" dirty="0">
                          <a:solidFill>
                            <a:srgbClr val="1D2430"/>
                          </a:solidFill>
                        </a:rPr>
                        <a:t>Comprensible</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c>
                  <a:txBody>
                    <a:bodyPr/>
                    <a:lstStyle/>
                    <a:p>
                      <a:pPr indent="0" marL="0">
                        <a:buNone/>
                      </a:pPr>
                      <a:r>
                        <a:rPr lang="en-US" sz="1400" dirty="0">
                          <a:solidFill>
                            <a:srgbClr val="1D2430"/>
                          </a:solidFill>
                        </a:rPr>
                        <a:t>El contenido y el funcionamiento se entienden (formularios explican errores)</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r>
              <a:tr h="0">
                <a:tc>
                  <a:txBody>
                    <a:bodyPr/>
                    <a:lstStyle/>
                    <a:p>
                      <a:pPr indent="0" marL="0">
                        <a:buNone/>
                      </a:pPr>
                      <a:r>
                        <a:rPr lang="en-US" sz="1400" dirty="0">
                          <a:solidFill>
                            <a:srgbClr val="1D2430"/>
                          </a:solidFill>
                        </a:rPr>
                        <a:t>Robusto</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c>
                  <a:txBody>
                    <a:bodyPr/>
                    <a:lstStyle/>
                    <a:p>
                      <a:pPr indent="0" marL="0">
                        <a:buNone/>
                      </a:pPr>
                      <a:r>
                        <a:rPr lang="en-US" sz="1400" dirty="0">
                          <a:solidFill>
                            <a:srgbClr val="1D2430"/>
                          </a:solidFill>
                        </a:rPr>
                        <a:t>Funciona con tecnologías actuales y futuras usando HTML válido y semántico</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r>
            </a:tbl>
          </a:graphicData>
        </a:graphic>
      </p:graphicFrame>
      <p:sp>
        <p:nvSpPr>
          <p:cNvPr id="6" name="Text 3"/>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Introducción y Principios de la Accesibilidad Web</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Introducción y Principios de la Accesibilidad Web</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Los principios POUR se corresponden directamente con la percepción de la información, el manejo por distintos dispositivos, la comprensión del contenido y la robustez tecnológica.</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Introducción y Principios de la Accesibilidad Web</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Introducción y Principios de la Accesibilidad Web</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4</a:t>
            </a:r>
            <a:pPr indent="0" marL="0">
              <a:spcAft>
                <a:spcPts val="600"/>
              </a:spcAft>
              <a:buNone/>
            </a:pPr>
            <a:r>
              <a:rPr lang="es-ES" altLang="en-US" sz="2000" dirty="0">
                <a:solidFill>
                  <a:srgbClr val="1D2430"/>
                </a:solidFill>
              </a:rPr>
              <a:t> (1 punto)</a:t>
            </a:r>
            <a:endParaRPr lang="en-US" sz="2000" dirty="0"/>
          </a:p>
          <a:p>
            <a:pPr indent="0" marL="0">
              <a:spcAft>
                <a:spcPts val="600"/>
              </a:spcAft>
              <a:buNone/>
            </a:pPr>
            <a:r>
              <a:rPr lang="es-ES" altLang="en-US" sz="2000" dirty="0">
                <a:solidFill>
                  <a:srgbClr val="1D2430"/>
                </a:solidFill>
              </a:rPr>
              <a:t>¿Qué siglas en inglés representan los cuatro principios fundamentales de las Pautas de Accesibilidad para el Contenido Web (WCAG)?</a:t>
            </a:r>
            <a:endParaRPr lang="en-US" sz="2000" dirty="0"/>
          </a:p>
          <a:p>
            <a:pPr indent="0" marL="0">
              <a:spcAft>
                <a:spcPts val="600"/>
              </a:spcAft>
              <a:buNone/>
            </a:pPr>
            <a:r>
              <a:rPr lang="es-ES" altLang="en-US" sz="2000" dirty="0">
                <a:solidFill>
                  <a:srgbClr val="1D2430"/>
                </a:solidFill>
              </a:rPr>
              <a:t>Respuestas aceptadas: POUR</a:t>
            </a:r>
            <a:endParaRPr lang="en-US" sz="2000" dirty="0"/>
          </a:p>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Las siglas son POUR, que corresponden a Perceptible, Operable, Comprensible y Robusto.</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EF3FB"/>
        </a:solidFill>
      </p:bgPr>
    </p:bg>
    <p:spTree>
      <p:nvGrpSpPr>
        <p:cNvPr id="1" name=""/>
        <p:cNvGrpSpPr/>
        <p:nvPr/>
      </p:nvGrpSpPr>
      <p:grpSpPr>
        <a:xfrm>
          <a:off x="0" y="0"/>
          <a:ext cx="0" cy="0"/>
          <a:chOff x="0" y="0"/>
          <a:chExt cx="0" cy="0"/>
        </a:xfrm>
      </p:grpSpPr>
      <p:sp>
        <p:nvSpPr>
          <p:cNvPr id="2" name="Text 0"/>
          <p:cNvSpPr/>
          <p:nvPr/>
        </p:nvSpPr>
        <p:spPr>
          <a:xfrm>
            <a:off x="548640" y="2560320"/>
            <a:ext cx="11091672" cy="1463040"/>
          </a:xfrm>
          <a:prstGeom prst="rect">
            <a:avLst/>
          </a:prstGeom>
          <a:noFill/>
          <a:ln/>
        </p:spPr>
        <p:txBody>
          <a:bodyPr wrap="square" rtlCol="0" anchor="ctr">
            <a:normAutofit/>
          </a:bodyPr>
          <a:lstStyle/>
          <a:p>
            <a:pPr indent="0" marL="0">
              <a:buNone/>
            </a:pPr>
            <a:r>
              <a:rPr lang="en-US" sz="3400" b="1" dirty="0">
                <a:solidFill>
                  <a:srgbClr val="1F5FBF"/>
                </a:solidFill>
              </a:rPr>
              <a:t>Módulo 2: Desarrollo Front-end Inclusivo y Semántica</a:t>
            </a:r>
            <a:endParaRPr lang="en-US" sz="34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Módulo 2: Desarrollo Front-end Inclusivo y Semántica</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Módulo 2: Desarrollo Front-end Inclusivo y Semántica</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Aprende a usar elementos HTML correctos, añadir textos alternativos, diseñar formularios accesibles y gestionar el contraste.</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Estructura semántica, elementos HTML y ARIA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Introducción a la Estructura y Semántica</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En esta lección del curso </a:t>
            </a:r>
            <a:pPr indent="0" marL="0">
              <a:spcAft>
                <a:spcPts val="600"/>
              </a:spcAft>
              <a:buNone/>
            </a:pPr>
            <a:r>
              <a:rPr lang="es-ES" altLang="en-US" sz="2000" b="1" dirty="0">
                <a:solidFill>
                  <a:srgbClr val="1D2430"/>
                </a:solidFill>
              </a:rPr>
              <a:t>Fundamentos de Accesibilidad Web para Equipos de Desarrollo</a:t>
            </a:r>
            <a:pPr indent="0" marL="0">
              <a:spcAft>
                <a:spcPts val="600"/>
              </a:spcAft>
              <a:buNone/>
            </a:pPr>
            <a:r>
              <a:rPr lang="es-ES" altLang="en-US" sz="2000" dirty="0">
                <a:solidFill>
                  <a:srgbClr val="1D2430"/>
                </a:solidFill>
              </a:rPr>
              <a:t>, exploraremos cómo utilizar una estructura semántica adecuada y el uso correcto de elementos HTML y ARIA. Este contenido forma parte del material formativo general.</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Estructura semántica, elementos HTML y ARIA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Uso Correcto de los Elementos HTML</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Debemos usar los elementos HTML por lo que son. Un botón debe ser un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&lt;button&gt;</a:t>
            </a:r>
            <a:pPr indent="0" marL="0">
              <a:spcAft>
                <a:spcPts val="600"/>
              </a:spcAft>
              <a:buNone/>
            </a:pPr>
            <a:r>
              <a:rPr lang="es-ES" altLang="en-US" sz="2000" dirty="0">
                <a:solidFill>
                  <a:srgbClr val="1D2430"/>
                </a:solidFill>
              </a:rPr>
              <a:t>, un enlace debe ser un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&lt;a&gt;</a:t>
            </a:r>
            <a:pPr indent="0" marL="0">
              <a:spcAft>
                <a:spcPts val="600"/>
              </a:spcAft>
              <a:buNone/>
            </a:pPr>
            <a:r>
              <a:rPr lang="es-ES" altLang="en-US" sz="2000" dirty="0">
                <a:solidFill>
                  <a:srgbClr val="1D2430"/>
                </a:solidFill>
              </a:rPr>
              <a:t> y una lista debe ser una lista. Así el navegador y los lectores de pantalla ya conocen su comportamiento.</a:t>
            </a:r>
            <a:endParaRPr lang="en-US" sz="2000" dirty="0"/>
          </a:p>
          <a:p>
            <a:pPr indent="0" marL="0">
              <a:spcAft>
                <a:spcPts val="600"/>
              </a:spcAft>
              <a:buNone/>
            </a:pPr>
            <a:r>
              <a:rPr lang="es-ES" altLang="en-US" sz="2000" dirty="0">
                <a:solidFill>
                  <a:srgbClr val="1D2430"/>
                </a:solidFill>
              </a:rPr>
              <a:t>Cada página tiene un único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&lt;h1&gt;</a:t>
            </a:r>
            <a:pPr indent="0" marL="0">
              <a:spcAft>
                <a:spcPts val="600"/>
              </a:spcAft>
              <a:buNone/>
            </a:pPr>
            <a:r>
              <a:rPr lang="es-ES" altLang="en-US" sz="2000" dirty="0">
                <a:solidFill>
                  <a:srgbClr val="1D2430"/>
                </a:solidFill>
              </a:rPr>
              <a:t>, y los títulos siguen una jerarquía sin saltos (de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&lt;h2&gt;</a:t>
            </a:r>
            <a:pPr indent="0" marL="0">
              <a:spcAft>
                <a:spcPts val="600"/>
              </a:spcAft>
              <a:buNone/>
            </a:pPr>
            <a:r>
              <a:rPr lang="es-ES" altLang="en-US" sz="2000" dirty="0">
                <a:solidFill>
                  <a:srgbClr val="1D2430"/>
                </a:solidFill>
              </a:rPr>
              <a:t> a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&lt;h3&gt;</a:t>
            </a:r>
            <a:pPr indent="0" marL="0">
              <a:spcAft>
                <a:spcPts val="600"/>
              </a:spcAft>
              <a:buNone/>
            </a:pPr>
            <a:r>
              <a:rPr lang="es-ES" altLang="en-US" sz="2000" dirty="0">
                <a:solidFill>
                  <a:srgbClr val="1D2430"/>
                </a:solidFill>
              </a:rPr>
              <a:t>, no de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&lt;h2&gt;</a:t>
            </a:r>
            <a:pPr indent="0" marL="0">
              <a:spcAft>
                <a:spcPts val="600"/>
              </a:spcAft>
              <a:buNone/>
            </a:pPr>
            <a:r>
              <a:rPr lang="es-ES" altLang="en-US" sz="2000" dirty="0">
                <a:solidFill>
                  <a:srgbClr val="1D2430"/>
                </a:solidFill>
              </a:rPr>
              <a:t> a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&lt;h4&gt;</a:t>
            </a:r>
            <a:pPr indent="0" marL="0">
              <a:spcAft>
                <a:spcPts val="600"/>
              </a:spcAft>
              <a:buNone/>
            </a:pPr>
            <a:r>
              <a:rPr lang="es-ES" altLang="en-US" sz="2000" dirty="0">
                <a:solidFill>
                  <a:srgbClr val="1D2430"/>
                </a:solidFill>
              </a:rPr>
              <a:t>). Las zonas principales se marcan con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&lt;header&gt;</a:t>
            </a:r>
            <a:pPr indent="0" marL="0">
              <a:spcAft>
                <a:spcPts val="600"/>
              </a:spcAft>
              <a:buNone/>
            </a:pPr>
            <a:r>
              <a:rPr lang="es-ES" altLang="en-US" sz="2000" dirty="0">
                <a:solidFill>
                  <a:srgbClr val="1D2430"/>
                </a:solidFill>
              </a:rPr>
              <a:t>,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&lt;nav&gt;</a:t>
            </a:r>
            <a:pPr indent="0" marL="0">
              <a:spcAft>
                <a:spcPts val="600"/>
              </a:spcAft>
              <a:buNone/>
            </a:pPr>
            <a:r>
              <a:rPr lang="es-ES" altLang="en-US" sz="2000" dirty="0">
                <a:solidFill>
                  <a:srgbClr val="1D2430"/>
                </a:solidFill>
              </a:rPr>
              <a:t>,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&lt;main&gt;</a:t>
            </a:r>
            <a:pPr indent="0" marL="0">
              <a:spcAft>
                <a:spcPts val="600"/>
              </a:spcAft>
              <a:buNone/>
            </a:pPr>
            <a:r>
              <a:rPr lang="es-ES" altLang="en-US" sz="2000" dirty="0">
                <a:solidFill>
                  <a:srgbClr val="1D2430"/>
                </a:solidFill>
              </a:rPr>
              <a:t> y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&lt;footer&gt;</a:t>
            </a:r>
            <a:pPr indent="0" marL="0">
              <a:spcAft>
                <a:spcPts val="600"/>
              </a:spcAft>
              <a:buNone/>
            </a:pPr>
            <a:r>
              <a:rPr lang="es-ES" altLang="en-US" sz="2000" dirty="0">
                <a:solidFill>
                  <a:srgbClr val="1D2430"/>
                </a:solidFill>
              </a:rPr>
              <a:t>, que los lectores de pantalla usan para saltar entre secciones.</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Estructura semántica, elementos HTML y ARIA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Texto Alternativo en Imágenes</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Toda imagen con significado necesita un atributo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alt</a:t>
            </a:r>
            <a:pPr indent="0" marL="0">
              <a:spcAft>
                <a:spcPts val="600"/>
              </a:spcAft>
              <a:buNone/>
            </a:pPr>
            <a:r>
              <a:rPr lang="es-ES" altLang="en-US" sz="2000" dirty="0">
                <a:solidFill>
                  <a:srgbClr val="1D2430"/>
                </a:solidFill>
              </a:rPr>
              <a:t> que explique su función, no que la describa pixel a pixel. Una imagen puramente decorativa lleva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alt=""</a:t>
            </a:r>
            <a:pPr indent="0" marL="0">
              <a:spcAft>
                <a:spcPts val="600"/>
              </a:spcAft>
              <a:buNone/>
            </a:pPr>
            <a:r>
              <a:rPr lang="es-ES" altLang="en-US" sz="2000" dirty="0">
                <a:solidFill>
                  <a:srgbClr val="1D2430"/>
                </a:solidFill>
              </a:rPr>
              <a:t> para que los lectores de pantalla la ignoren. Una imagen que es un enlace debe describir el destino del enlace. Si una imagen contiene texto, ese texto debe repetirse en el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alt</a:t>
            </a:r>
            <a:pPr indent="0" marL="0">
              <a:spcAft>
                <a:spcPts val="600"/>
              </a:spcAft>
              <a:buNone/>
            </a:pPr>
            <a:r>
              <a:rPr lang="es-ES" altLang="en-US" sz="2000" dirty="0">
                <a:solidFill>
                  <a:srgbClr val="1D2430"/>
                </a:solidFill>
              </a:rPr>
              <a:t>.</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Estructura semántica, elementos HTML y ARIA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ARIA: La Última Opción</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ARIA añade información a elementos que el HTML no puede describir por sí solo. La primera regla de ARIA es no usarla si un elemento HTML nativo ya hace el trabajo. Un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&lt;div role="button"&gt;</a:t>
            </a:r>
            <a:pPr indent="0" marL="0">
              <a:spcAft>
                <a:spcPts val="600"/>
              </a:spcAft>
              <a:buNone/>
            </a:pPr>
            <a:r>
              <a:rPr lang="es-ES" altLang="en-US" sz="2000" dirty="0">
                <a:solidFill>
                  <a:srgbClr val="1D2430"/>
                </a:solidFill>
              </a:rPr>
              <a:t> obliga a programar a mano el teclado y el foco, mientras que un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&lt;button&gt;</a:t>
            </a:r>
            <a:pPr indent="0" marL="0">
              <a:spcAft>
                <a:spcPts val="600"/>
              </a:spcAft>
              <a:buNone/>
            </a:pPr>
            <a:r>
              <a:rPr lang="es-ES" altLang="en-US" sz="2000" dirty="0">
                <a:solidFill>
                  <a:srgbClr val="1D2430"/>
                </a:solidFill>
              </a:rPr>
              <a:t> lo trae todo de serie. Un uso incorrecto de ARIA empeora la accesibilidad.</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Estructura semántica, elementos HTML y ARIA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Resumen de la Lección</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En resumen, utilizar elementos HTML nativos y una jerarquía de títulos correcta facilita enormemente la labor de los lectores de pantalla. Las imágenes deben contar siempre con el atributo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alt</a:t>
            </a:r>
            <a:pPr indent="0" marL="0">
              <a:spcAft>
                <a:spcPts val="600"/>
              </a:spcAft>
              <a:buNone/>
            </a:pPr>
            <a:r>
              <a:rPr lang="es-ES" altLang="en-US" sz="2000" dirty="0">
                <a:solidFill>
                  <a:srgbClr val="1D2430"/>
                </a:solidFill>
              </a:rPr>
              <a:t> adecuado según su función, y los atributos ARIA deben reservarse estrictamente para cuando el HTML nativo no sea suficiente.</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Navegación por teclado, formularios y contraste de color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Introducción a la Navegación y el Contraste</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En esta lección del módulo de desarrollo front-end inclusivo, profundizaremos en tres pilares fundamentales para la usabilidad y accesibilidad: la navegación por teclado, el diseño de formularios accesibles y los criterios de contraste de color. Todo lo que se puede hacer con el ratón debe poder realizarse también mediante el teclado.</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Navegación por teclado, formularios y contraste de color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Navegación por Teclado</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Para garantizar una correcta experiencia de teclado, es necesario tener en cuenta tres aspectos clave:</a:t>
            </a:r>
            <a:endParaRPr lang="en-US" sz="2000" dirty="0"/>
          </a:p>
          <a:p>
            <a:pPr marL="342900" indent="-342900">
              <a:spcAft>
                <a:spcPts val="600"/>
              </a:spcAft>
              <a:buSzPct val="100000"/>
              <a:buChar char="•"/>
            </a:pPr>
            <a:r>
              <a:rPr lang="es-ES" altLang="en-US" sz="2000" b="1" dirty="0">
                <a:solidFill>
                  <a:srgbClr val="1D2430"/>
                </a:solidFill>
              </a:rPr>
              <a:t>Orden lógico:</a:t>
            </a:r>
            <a:endParaRPr lang="en-US" sz="2000" dirty="0"/>
          </a:p>
          <a:p>
            <a:pPr marL="342900" indent="-342900">
              <a:spcAft>
                <a:spcPts val="600"/>
              </a:spcAft>
              <a:buSzPct val="100000"/>
              <a:buChar char="•"/>
            </a:pPr>
            <a:r>
              <a:rPr lang="es-ES" altLang="en-US" sz="2000" dirty="0">
                <a:solidFill>
                  <a:srgbClr val="1D2430"/>
                </a:solidFill>
              </a:rPr>
              <a:t> el orden de tabulación debe seguir el orden visual de la página.</a:t>
            </a:r>
            <a:endParaRPr lang="en-US" sz="2000" dirty="0"/>
          </a:p>
          <a:p>
            <a:pPr marL="342900" indent="-342900">
              <a:spcAft>
                <a:spcPts val="600"/>
              </a:spcAft>
              <a:buSzPct val="100000"/>
              <a:buChar char="•"/>
            </a:pPr>
            <a:r>
              <a:rPr lang="es-ES" altLang="en-US" sz="2000" b="1" dirty="0">
                <a:solidFill>
                  <a:srgbClr val="1D2430"/>
                </a:solidFill>
              </a:rPr>
              <a:t>Foco visible:</a:t>
            </a:r>
            <a:endParaRPr lang="en-US" sz="2000" dirty="0"/>
          </a:p>
          <a:p>
            <a:pPr marL="342900" indent="-342900">
              <a:spcAft>
                <a:spcPts val="600"/>
              </a:spcAft>
              <a:buSzPct val="100000"/>
              <a:buChar char="•"/>
            </a:pPr>
            <a:r>
              <a:rPr lang="es-ES" altLang="en-US" sz="2000" dirty="0">
                <a:solidFill>
                  <a:srgbClr val="1D2430"/>
                </a:solidFill>
              </a:rPr>
              <a:t> el elemento enfocado siempre debe verse. No quites el contorno (</a:t>
            </a:r>
            <a:endParaRPr lang="en-US" sz="2000" dirty="0"/>
          </a:p>
          <a:p>
            <a:pPr marL="342900" indent="-342900">
              <a:spcAft>
                <a:spcPts val="600"/>
              </a:spcAft>
              <a:buSzPct val="100000"/>
              <a:buChar char="•"/>
            </a:pPr>
            <a:r>
              <a:rPr lang="es-ES" altLang="en-US" sz="2000" dirty="0">
                <a:solidFill>
                  <a:srgbClr val="1D2430"/>
                </a:solidFill>
                <a:latin typeface="Courier New" pitchFamily="34" charset="0"/>
                <a:ea typeface="Courier New" pitchFamily="34" charset="-122"/>
                <a:cs typeface="Courier New" pitchFamily="34" charset="-120"/>
              </a:rPr>
              <a:t>outline</a:t>
            </a:r>
            <a:endParaRPr lang="en-US" sz="2000" dirty="0"/>
          </a:p>
          <a:p>
            <a:pPr marL="342900" indent="-342900">
              <a:spcAft>
                <a:spcPts val="600"/>
              </a:spcAft>
              <a:buSzPct val="100000"/>
              <a:buChar char="•"/>
            </a:pPr>
            <a:r>
              <a:rPr lang="es-ES" altLang="en-US" sz="2000" dirty="0">
                <a:solidFill>
                  <a:srgbClr val="1D2430"/>
                </a:solidFill>
              </a:rPr>
              <a:t>) sin ofrecer una alternativa clara.</a:t>
            </a:r>
            <a:endParaRPr lang="en-US" sz="2000" dirty="0"/>
          </a:p>
          <a:p>
            <a:pPr marL="342900" indent="-342900">
              <a:spcAft>
                <a:spcPts val="600"/>
              </a:spcAft>
              <a:buSzPct val="100000"/>
              <a:buChar char="•"/>
            </a:pPr>
            <a:r>
              <a:rPr lang="es-ES" altLang="en-US" sz="2000" b="1" dirty="0">
                <a:solidFill>
                  <a:srgbClr val="1D2430"/>
                </a:solidFill>
              </a:rPr>
              <a:t>Sin trampas:</a:t>
            </a:r>
            <a:endParaRPr lang="en-US" sz="2000" dirty="0"/>
          </a:p>
          <a:p>
            <a:pPr marL="342900" indent="-342900">
              <a:spcAft>
                <a:spcPts val="600"/>
              </a:spcAft>
              <a:buSzPct val="100000"/>
              <a:buChar char="•"/>
            </a:pPr>
            <a:r>
              <a:rPr lang="es-ES" altLang="en-US" sz="2000" dirty="0">
                <a:solidFill>
                  <a:srgbClr val="1D2430"/>
                </a:solidFill>
              </a:rPr>
              <a:t> el foco nunca debe quedar atrapado en un componente del que no se pueda salir con el teclado.</a:t>
            </a:r>
            <a:pPr indent="0" marL="0">
              <a:spcAft>
                <a:spcPts val="600"/>
              </a:spcAft>
              <a:buNone/>
            </a:pPr>
            <a:r>
              <a:rPr lang="es-ES" altLang="en-US" sz="2000" dirty="0">
                <a:solidFill>
                  <a:srgbClr val="1D2430"/>
                </a:solidFill>
              </a:rPr>
              <a:t>Además, un enlace de «Saltar al contenido» al principio de la página permite a quien navega con teclado evitar el menú en cada página.</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Navegación por teclado, formularios y contraste de color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Formularios Accesibles</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Cada campo de un formulario necesita una etiqueta visible asociada mediante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&lt;label for&gt;</a:t>
            </a:r>
            <a:pPr indent="0" marL="0">
              <a:spcAft>
                <a:spcPts val="600"/>
              </a:spcAft>
              <a:buNone/>
            </a:pPr>
            <a:r>
              <a:rPr lang="es-ES" altLang="en-US" sz="2000" dirty="0">
                <a:solidFill>
                  <a:srgbClr val="1D2430"/>
                </a:solidFill>
              </a:rPr>
              <a:t> o envolviéndolo. El texto de ayuda debe asociarse con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aria-describedby</a:t>
            </a:r>
            <a:pPr indent="0" marL="0">
              <a:spcAft>
                <a:spcPts val="600"/>
              </a:spcAft>
              <a:buNone/>
            </a:pPr>
            <a:r>
              <a:rPr lang="es-ES" altLang="en-US" sz="2000" dirty="0">
                <a:solidFill>
                  <a:srgbClr val="1D2430"/>
                </a:solidFill>
              </a:rPr>
              <a:t>. Los errores tienen que indicar qué ha fallado y cómo corregirlo, anunciándose a los lectores de pantalla con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role="alert"</a:t>
            </a:r>
            <a:pPr indent="0" marL="0">
              <a:spcAft>
                <a:spcPts val="600"/>
              </a:spcAft>
              <a:buNone/>
            </a:pPr>
            <a:r>
              <a:rPr lang="es-ES" altLang="en-US" sz="2000" dirty="0">
                <a:solidFill>
                  <a:srgbClr val="1D2430"/>
                </a:solidFill>
              </a:rPr>
              <a:t>. Recuerda que nunca se debe usar el atributo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placeholder</a:t>
            </a:r>
            <a:pPr indent="0" marL="0">
              <a:spcAft>
                <a:spcPts val="600"/>
              </a:spcAft>
              <a:buNone/>
            </a:pPr>
            <a:r>
              <a:rPr lang="es-ES" altLang="en-US" sz="2000" dirty="0">
                <a:solidFill>
                  <a:srgbClr val="1D2430"/>
                </a:solidFill>
              </a:rPr>
              <a:t> como sustituto de la etiqueta, ya que desaparece al escribir y suele tener poco contraste.</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Navegación por teclado, formularios y contraste de color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Criterios de Contraste de Color</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La relación de contraste compara la luminosidad relativa del texto con la del fondo, variando desde 1:1 hasta 21:1. Según los valores mínimos de WCAG 2.2 nivel AA, el texto normal exige al menos 4,5:1, mientras que el texto grande y los componentes de interfaz necesitan 3:1. Asimismo, nunca se debe usar solo el color para transmitir información; por ejemplo, un campo con error requiere un texto o icono explicativo adicional.</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Navegación por teclado, formularios y contraste de color (15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Resumen y Verificación</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Para asegurar una correcta accesibilidad antes de publicar, verifica que la navegación por teclado sea fluida sin trampas de foco, los formularios tengan etiquetas e instrucciones claras, y los colores cumplan con las ratios mínimas de contraste. Utiliza herramientas de desarrollo y comprobadores automáticos para detectar fallos comunes como textos grises claros o modo oscuro mal contrastado.</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Actividades</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Auditoría de un Componente de Formulario e Interfaz</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Revisa el siguiente fragmento de código HTML propuesto por el equipo de desarrollo para un formulario de inicio de sesión e identifica qué elementos incumplen las pautas de accesibilidad estudiadas en el módulo:</a:t>
            </a:r>
            <a:endParaRPr lang="en-US" sz="2000" dirty="0"/>
          </a:p>
          <a:p>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&lt;div role="button" onclick="login()"&gt;Iniciar sesión&lt;/div&gt; &lt;input type="text" placeholder="Introduce tu usuario"&gt; &lt;span style="color: red;"&gt;Campo obligatorio&lt;/span&gt;</a:t>
            </a:r>
            <a:endParaRPr lang="en-US" sz="2000" dirty="0"/>
          </a:p>
          <a:p>
            <a:pPr indent="0" marL="0">
              <a:spcAft>
                <a:spcPts val="600"/>
              </a:spcAft>
              <a:buNone/>
            </a:pPr>
            <a:r>
              <a:rPr lang="es-ES" altLang="en-US" sz="2000" dirty="0">
                <a:solidFill>
                  <a:srgbClr val="1D2430"/>
                </a:solidFill>
              </a:rPr>
              <a:t>Redacta una propuesta de mejora basada en HTML nativo semántico, asegurando el uso correcto de elementos interactivos, etiquetas de formulario y atributos de accesibilidad necesarios.</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Desarrollo Front-end Inclusivo y Semántica</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Desarrollo Front-end Inclusivo y Semántica</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Para aprobar: 60 %</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Desarrollo Front-end Inclusivo y Semántica</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Desarrollo Front-end Inclusivo y Semántica</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1</a:t>
            </a:r>
            <a:pPr indent="0" marL="0">
              <a:spcAft>
                <a:spcPts val="600"/>
              </a:spcAft>
              <a:buNone/>
            </a:pPr>
            <a:r>
              <a:rPr lang="es-ES" altLang="en-US" sz="2000" dirty="0">
                <a:solidFill>
                  <a:srgbClr val="1D2430"/>
                </a:solidFill>
              </a:rPr>
              <a:t> (1 punto)</a:t>
            </a:r>
            <a:endParaRPr lang="en-US" sz="2000" dirty="0"/>
          </a:p>
          <a:p>
            <a:pPr indent="0" marL="0">
              <a:spcAft>
                <a:spcPts val="600"/>
              </a:spcAft>
              <a:buNone/>
            </a:pPr>
            <a:r>
              <a:rPr lang="es-ES" altLang="en-US" sz="2000" dirty="0">
                <a:solidFill>
                  <a:srgbClr val="1D2430"/>
                </a:solidFill>
              </a:rPr>
              <a:t>¿Cuál es la primera regla de ARIA según los contenidos del curso?</a:t>
            </a:r>
            <a:endParaRPr lang="en-US" sz="2000" dirty="0"/>
          </a:p>
          <a:p>
            <a:pPr marL="342900" indent="-342900">
              <a:spcAft>
                <a:spcPts val="600"/>
              </a:spcAft>
              <a:buSzPct val="100000"/>
              <a:buChar char="•"/>
            </a:pPr>
            <a:r>
              <a:rPr lang="es-ES" altLang="en-US" sz="2000" dirty="0">
                <a:solidFill>
                  <a:srgbClr val="1D2430"/>
                </a:solidFill>
              </a:rPr>
              <a:t>[ ] Utilizar siempre roles ARIA en elementos dinámicos para mejorar el lector de pantalla.</a:t>
            </a:r>
            <a:endParaRPr lang="en-US" sz="2000" dirty="0"/>
          </a:p>
          <a:p>
            <a:pPr marL="342900" indent="-342900">
              <a:spcAft>
                <a:spcPts val="600"/>
              </a:spcAft>
              <a:buSzPct val="100000"/>
              <a:buChar char="•"/>
            </a:pPr>
            <a:r>
              <a:rPr lang="es-ES" altLang="en-US" sz="2000" dirty="0">
                <a:solidFill>
                  <a:srgbClr val="1D2430"/>
                </a:solidFill>
              </a:rPr>
              <a:t>[x] No usar ARIA si un elemento HTML nativo ya hace el trabajo.</a:t>
            </a:r>
            <a:endParaRPr lang="en-US" sz="2000" dirty="0"/>
          </a:p>
          <a:p>
            <a:pPr marL="342900" indent="-342900">
              <a:spcAft>
                <a:spcPts val="600"/>
              </a:spcAft>
              <a:buSzPct val="100000"/>
              <a:buChar char="•"/>
            </a:pPr>
            <a:r>
              <a:rPr lang="es-ES" altLang="en-US" sz="2000" dirty="0">
                <a:solidFill>
                  <a:srgbClr val="1D2430"/>
                </a:solidFill>
              </a:rPr>
              <a:t>[ ] Sustituir todas las etiquetas &amp;lt;button&amp;gt; por divs con rol de botón.</a:t>
            </a:r>
            <a:endParaRPr lang="en-US" sz="2000" dirty="0"/>
          </a:p>
          <a:p>
            <a:pPr marL="342900" indent="-342900">
              <a:spcAft>
                <a:spcPts val="600"/>
              </a:spcAft>
              <a:buSzPct val="100000"/>
              <a:buChar char="•"/>
            </a:pPr>
            <a:r>
              <a:rPr lang="es-ES" altLang="en-US" sz="2000" dirty="0">
                <a:solidFill>
                  <a:srgbClr val="1D2430"/>
                </a:solidFill>
              </a:rPr>
              <a:t>[ ] Emplear atributos ARIA únicamente en las imágenes decorativas.</a:t>
            </a:r>
            <a:endParaRPr lang="en-US" sz="2000" dirty="0"/>
          </a:p>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La primera regla de ARIA es no usarla si un elemento HTML nativo ya hace el trabajo, ya que el uso incorrecto empeora la accesibilidad.</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Desarrollo Front-end Inclusivo y Semántica</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Desarrollo Front-end Inclusivo y Semántica</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2</a:t>
            </a:r>
            <a:pPr indent="0" marL="0">
              <a:spcAft>
                <a:spcPts val="600"/>
              </a:spcAft>
              <a:buNone/>
            </a:pPr>
            <a:r>
              <a:rPr lang="es-ES" altLang="en-US" sz="2000" dirty="0">
                <a:solidFill>
                  <a:srgbClr val="1D2430"/>
                </a:solidFill>
              </a:rPr>
              <a:t> (1 punto)</a:t>
            </a:r>
            <a:endParaRPr lang="en-US" sz="2000" dirty="0"/>
          </a:p>
          <a:p>
            <a:pPr indent="0" marL="0">
              <a:spcAft>
                <a:spcPts val="600"/>
              </a:spcAft>
              <a:buNone/>
            </a:pPr>
            <a:r>
              <a:rPr lang="es-ES" altLang="en-US" sz="2000" dirty="0">
                <a:solidFill>
                  <a:srgbClr val="1D2430"/>
                </a:solidFill>
              </a:rPr>
              <a:t>El atributo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placeholder</a:t>
            </a:r>
            <a:pPr indent="0" marL="0">
              <a:spcAft>
                <a:spcPts val="600"/>
              </a:spcAft>
              <a:buNone/>
            </a:pPr>
            <a:r>
              <a:rPr lang="es-ES" altLang="en-US" sz="2000" dirty="0">
                <a:solidFill>
                  <a:srgbClr val="1D2430"/>
                </a:solidFill>
              </a:rPr>
              <a:t> puede utilizarse como sustituto permanente de la etiqueta visible de un campo de formulario, ya que permanece visible en todo momento.</a:t>
            </a:r>
            <a:endParaRPr lang="en-US" sz="2000" dirty="0"/>
          </a:p>
          <a:p>
            <a:pPr marL="342900" indent="-342900">
              <a:spcAft>
                <a:spcPts val="600"/>
              </a:spcAft>
              <a:buSzPct val="100000"/>
              <a:buChar char="•"/>
            </a:pPr>
            <a:r>
              <a:rPr lang="es-ES" altLang="en-US" sz="2000" dirty="0">
                <a:solidFill>
                  <a:srgbClr val="1D2430"/>
                </a:solidFill>
              </a:rPr>
              <a:t>[ ] Verdadero</a:t>
            </a:r>
            <a:endParaRPr lang="en-US" sz="2000" dirty="0"/>
          </a:p>
          <a:p>
            <a:pPr marL="342900" indent="-342900">
              <a:spcAft>
                <a:spcPts val="600"/>
              </a:spcAft>
              <a:buSzPct val="100000"/>
              <a:buChar char="•"/>
            </a:pPr>
            <a:r>
              <a:rPr lang="es-ES" altLang="en-US" sz="2000" dirty="0">
                <a:solidFill>
                  <a:srgbClr val="1D2430"/>
                </a:solidFill>
              </a:rPr>
              <a:t>[x] Falso</a:t>
            </a:r>
            <a:endParaRPr lang="en-US" sz="2000" dirty="0"/>
          </a:p>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El texto del placeholder desaparece al escribir en el campo y suele tener poco contraste, por lo que nunca debe usarse como sustituto de la etiqueta.</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Desarrollo Front-end Inclusivo y Semántica</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Desarrollo Front-end Inclusivo y Semántica</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3</a:t>
            </a:r>
            <a:pPr indent="0" marL="0">
              <a:spcAft>
                <a:spcPts val="600"/>
              </a:spcAft>
              <a:buNone/>
            </a:pPr>
            <a:r>
              <a:rPr lang="es-ES" altLang="en-US" sz="2000" dirty="0">
                <a:solidFill>
                  <a:srgbClr val="1D2430"/>
                </a:solidFill>
              </a:rPr>
              <a:t> (1 punto)</a:t>
            </a:r>
            <a:endParaRPr lang="en-US" sz="2000" dirty="0"/>
          </a:p>
          <a:p>
            <a:pPr indent="0" marL="0">
              <a:spcAft>
                <a:spcPts val="600"/>
              </a:spcAft>
              <a:buNone/>
            </a:pPr>
            <a:r>
              <a:rPr lang="es-ES" altLang="en-US" sz="2000" dirty="0">
                <a:solidFill>
                  <a:srgbClr val="1D2430"/>
                </a:solidFill>
              </a:rPr>
              <a:t>¿Qué valor debe tener el atributo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alt</a:t>
            </a:r>
            <a:pPr indent="0" marL="0">
              <a:spcAft>
                <a:spcPts val="600"/>
              </a:spcAft>
              <a:buNone/>
            </a:pPr>
            <a:r>
              <a:rPr lang="es-ES" altLang="en-US" sz="2000" dirty="0">
                <a:solidFill>
                  <a:srgbClr val="1D2430"/>
                </a:solidFill>
              </a:rPr>
              <a:t> en una imagen puramente decorativa para que los lectores de pantalla la ignoren?</a:t>
            </a:r>
            <a:endParaRPr lang="en-US" sz="2000" dirty="0"/>
          </a:p>
          <a:p>
            <a:pPr indent="0" marL="0">
              <a:spcAft>
                <a:spcPts val="600"/>
              </a:spcAft>
              <a:buNone/>
            </a:pPr>
            <a:r>
              <a:rPr lang="es-ES" altLang="en-US" sz="2000" dirty="0">
                <a:solidFill>
                  <a:srgbClr val="1D2430"/>
                </a:solidFill>
              </a:rPr>
              <a:t>Respuestas aceptadas: "", alt=""</a:t>
            </a:r>
            <a:endParaRPr lang="en-US" sz="2000" dirty="0"/>
          </a:p>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Una imagen puramente decorativa lleva el atributo alt vacío (alt="") para que los lectores de pantalla la ignoren.</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Desarrollo Front-end Inclusivo y Semántica</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Desarrollo Front-end Inclusivo y Semántica</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4</a:t>
            </a:r>
            <a:pPr indent="0" marL="0">
              <a:spcAft>
                <a:spcPts val="600"/>
              </a:spcAft>
              <a:buNone/>
            </a:pPr>
            <a:r>
              <a:rPr lang="es-ES" altLang="en-US" sz="2000" dirty="0">
                <a:solidFill>
                  <a:srgbClr val="1D2430"/>
                </a:solidFill>
              </a:rPr>
              <a:t> (2 puntos)</a:t>
            </a:r>
            <a:endParaRPr lang="en-US" sz="2000" dirty="0"/>
          </a:p>
          <a:p>
            <a:pPr indent="0" marL="0">
              <a:spcAft>
                <a:spcPts val="600"/>
              </a:spcAft>
              <a:buNone/>
            </a:pPr>
            <a:r>
              <a:rPr lang="es-ES" altLang="en-US" sz="2000" dirty="0">
                <a:solidFill>
                  <a:srgbClr val="1D2430"/>
                </a:solidFill>
              </a:rPr>
              <a:t>Relaciona cada aspecto de la navegación por teclado o contraste con su definición o requisito correspondiente según las pautas de accesibilidad:</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Desarrollo Front-end Inclusivo y Semántica</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Desarrollo Front-end Inclusivo y Semántica</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5545836"/>
                <a:gridCol w="5545836"/>
              </a:tblGrid>
              <a:tr h="0">
                <a:tc>
                  <a:txBody>
                    <a:bodyPr/>
                    <a:lstStyle/>
                    <a:p>
                      <a:pPr indent="0" marL="0">
                        <a:buNone/>
                      </a:pPr>
                      <a:r>
                        <a:rPr lang="en-US" sz="1400" b="1" dirty="0">
                          <a:solidFill>
                            <a:srgbClr val="1D2430"/>
                          </a:solidFill>
                        </a:rPr>
                        <a:t>Elementos</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solidFill>
                      <a:srgbClr val="EEF3FB"/>
                    </a:solidFill>
                  </a:tcPr>
                </a:tc>
                <a:tc>
                  <a:txBody>
                    <a:bodyPr/>
                    <a:lstStyle/>
                    <a:p>
                      <a:pPr indent="0" marL="0">
                        <a:buNone/>
                      </a:pPr>
                      <a:r>
                        <a:rPr lang="en-US" sz="1400" b="1" dirty="0">
                          <a:solidFill>
                            <a:srgbClr val="1D2430"/>
                          </a:solidFill>
                        </a:rPr>
                        <a:t>Opciones</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solidFill>
                      <a:srgbClr val="EEF3FB"/>
                    </a:solidFill>
                  </a:tcPr>
                </a:tc>
              </a:tr>
              <a:tr h="0">
                <a:tc>
                  <a:txBody>
                    <a:bodyPr/>
                    <a:lstStyle/>
                    <a:p>
                      <a:pPr indent="0" marL="0">
                        <a:buNone/>
                      </a:pPr>
                      <a:r>
                        <a:rPr lang="en-US" sz="1400" dirty="0">
                          <a:solidFill>
                            <a:srgbClr val="1D2430"/>
                          </a:solidFill>
                        </a:rPr>
                        <a:t>Orden lógico</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c>
                  <a:txBody>
                    <a:bodyPr/>
                    <a:lstStyle/>
                    <a:p>
                      <a:pPr indent="0" marL="0">
                        <a:buNone/>
                      </a:pPr>
                      <a:r>
                        <a:rPr lang="en-US" sz="1400" dirty="0">
                          <a:solidFill>
                            <a:srgbClr val="1D2430"/>
                          </a:solidFill>
                        </a:rPr>
                        <a:t>El orden de tabulación debe seguir el orden visual de la página.</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r>
              <a:tr h="0">
                <a:tc>
                  <a:txBody>
                    <a:bodyPr/>
                    <a:lstStyle/>
                    <a:p>
                      <a:pPr indent="0" marL="0">
                        <a:buNone/>
                      </a:pPr>
                      <a:r>
                        <a:rPr lang="en-US" sz="1400" dirty="0">
                          <a:solidFill>
                            <a:srgbClr val="1D2430"/>
                          </a:solidFill>
                        </a:rPr>
                        <a:t>Foco visible</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c>
                  <a:txBody>
                    <a:bodyPr/>
                    <a:lstStyle/>
                    <a:p>
                      <a:pPr indent="0" marL="0">
                        <a:buNone/>
                      </a:pPr>
                      <a:r>
                        <a:rPr lang="en-US" sz="1400" dirty="0">
                          <a:solidFill>
                            <a:srgbClr val="1D2430"/>
                          </a:solidFill>
                        </a:rPr>
                        <a:t>El elemento enfocado siempre debe verse y no quitar el contorno sin alternativa.</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r>
              <a:tr h="0">
                <a:tc>
                  <a:txBody>
                    <a:bodyPr/>
                    <a:lstStyle/>
                    <a:p>
                      <a:pPr indent="0" marL="0">
                        <a:buNone/>
                      </a:pPr>
                      <a:r>
                        <a:rPr lang="en-US" sz="1400" dirty="0">
                          <a:solidFill>
                            <a:srgbClr val="1D2430"/>
                          </a:solidFill>
                        </a:rPr>
                        <a:t>Texto normal (WCAG 2.2 AA)</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c>
                  <a:txBody>
                    <a:bodyPr/>
                    <a:lstStyle/>
                    <a:p>
                      <a:pPr indent="0" marL="0">
                        <a:buNone/>
                      </a:pPr>
                      <a:r>
                        <a:rPr lang="en-US" sz="1400" dirty="0">
                          <a:solidFill>
                            <a:srgbClr val="1D2430"/>
                          </a:solidFill>
                        </a:rPr>
                        <a:t>Exige al menos una relación de contraste de 4,5:1.</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r>
              <a:tr h="0">
                <a:tc>
                  <a:txBody>
                    <a:bodyPr/>
                    <a:lstStyle/>
                    <a:p>
                      <a:pPr indent="0" marL="0">
                        <a:buNone/>
                      </a:pPr>
                      <a:r>
                        <a:rPr lang="en-US" sz="1400" dirty="0">
                          <a:solidFill>
                            <a:srgbClr val="1D2430"/>
                          </a:solidFill>
                        </a:rPr>
                        <a:t>Anuncio de errores en formularios</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c>
                  <a:txBody>
                    <a:bodyPr/>
                    <a:lstStyle/>
                    <a:p>
                      <a:pPr indent="0" marL="0">
                        <a:buNone/>
                      </a:pPr>
                      <a:r>
                        <a:rPr lang="en-US" sz="1400" dirty="0">
                          <a:solidFill>
                            <a:srgbClr val="1D2430"/>
                          </a:solidFill>
                        </a:rPr>
                        <a:t>Deben indicar qué falló y anunciarse con role="alert".</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r>
            </a:tbl>
          </a:graphicData>
        </a:graphic>
      </p:graphicFrame>
      <p:sp>
        <p:nvSpPr>
          <p:cNvPr id="6" name="Text 3"/>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Desarrollo Front-end Inclusivo y Semántica</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Desarrollo Front-end Inclusivo y Semántica</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Cada concepto se asocia correctamente con su pauta técnica de acuerdo con los contenidos de navegación y contraste del curso.</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EEF3FB"/>
        </a:solidFill>
      </p:bgPr>
    </p:bg>
    <p:spTree>
      <p:nvGrpSpPr>
        <p:cNvPr id="1" name=""/>
        <p:cNvGrpSpPr/>
        <p:nvPr/>
      </p:nvGrpSpPr>
      <p:grpSpPr>
        <a:xfrm>
          <a:off x="0" y="0"/>
          <a:ext cx="0" cy="0"/>
          <a:chOff x="0" y="0"/>
          <a:chExt cx="0" cy="0"/>
        </a:xfrm>
      </p:grpSpPr>
      <p:sp>
        <p:nvSpPr>
          <p:cNvPr id="2" name="Text 0"/>
          <p:cNvSpPr/>
          <p:nvPr/>
        </p:nvSpPr>
        <p:spPr>
          <a:xfrm>
            <a:off x="548640" y="2560320"/>
            <a:ext cx="11091672" cy="1463040"/>
          </a:xfrm>
          <a:prstGeom prst="rect">
            <a:avLst/>
          </a:prstGeom>
          <a:noFill/>
          <a:ln/>
        </p:spPr>
        <p:txBody>
          <a:bodyPr wrap="square" rtlCol="0" anchor="ctr">
            <a:normAutofit/>
          </a:bodyPr>
          <a:lstStyle/>
          <a:p>
            <a:pPr indent="0" marL="0">
              <a:buNone/>
            </a:pPr>
            <a:r>
              <a:rPr lang="en-US" sz="3400" b="1" dirty="0">
                <a:solidFill>
                  <a:srgbClr val="1F5FBF"/>
                </a:solidFill>
              </a:rPr>
              <a:t>Módulo 3: Comprobación y Verificación Final</a:t>
            </a:r>
            <a:endParaRPr lang="en-US" sz="34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Módulo 3: Comprobación y Verificación Final</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Módulo 3: Comprobación y Verificación Final</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Descubre cómo utilizar herramientas automáticas y listas de comprobación para asegurar que tu web sea accesible antes de publicarla.</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Herramientas de comprobación y pruebas automáticas (10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Introducción a la comprobación de accesibilidad</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En esta lección del curso </a:t>
            </a:r>
            <a:pPr indent="0" marL="0">
              <a:spcAft>
                <a:spcPts val="600"/>
              </a:spcAft>
              <a:buNone/>
            </a:pPr>
            <a:r>
              <a:rPr lang="es-ES" altLang="en-US" sz="2000" b="1" dirty="0">
                <a:solidFill>
                  <a:srgbClr val="1D2430"/>
                </a:solidFill>
              </a:rPr>
              <a:t>Fundamentos de Accesibilidad Web para Equipos de Desarrollo</a:t>
            </a:r>
            <a:pPr indent="0" marL="0">
              <a:spcAft>
                <a:spcPts val="600"/>
              </a:spcAft>
              <a:buNone/>
            </a:pPr>
            <a:r>
              <a:rPr lang="es-ES" altLang="en-US" sz="2000" dirty="0">
                <a:solidFill>
                  <a:srgbClr val="1D2430"/>
                </a:solidFill>
              </a:rPr>
              <a:t>, orientada al nivel principiante, abordaremos las herramientas de comprobación y pruebas automáticas dentro del módulo de Comprobación y Verificación Final.</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Herramientas de comprobación y pruebas automáticas (10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Herramientas automáticas y su alcance</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Las herramientas automáticas, como axe o Lighthouse, detectan solo una parte de los problemas (se suele citar menos de la mitad). Complétalas con pruebas manuales: recorre la página con el teclado, amplía el texto al 200 %, comprueba el contraste y prueba con un lector de pantalla como NVDA, VoiceOver o Orca. Siempre que puedas, prueba con personas usuarias reales.</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Herramientas de comprobación y pruebas automáticas (10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Pruebas finales y lista de comprobación</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Antes de publicar contenido, es fundamental realizar una serie de pruebas finales esenciales para garantizar la accesibilidad web:</a:t>
            </a:r>
            <a:endParaRPr lang="en-US" sz="2000" dirty="0"/>
          </a:p>
          <a:p>
            <a:pPr marL="342900" indent="-342900">
              <a:spcAft>
                <a:spcPts val="600"/>
              </a:spcAft>
              <a:buSzPct val="100000"/>
              <a:buChar char="•"/>
            </a:pPr>
            <a:r>
              <a:rPr lang="es-ES" altLang="en-US" sz="2000" dirty="0">
                <a:solidFill>
                  <a:srgbClr val="1D2430"/>
                </a:solidFill>
              </a:rPr>
              <a:t>Se ha pasado una herramienta automática (axe o Lighthouse) y no hay errores pendientes.</a:t>
            </a:r>
            <a:endParaRPr lang="en-US" sz="2000" dirty="0"/>
          </a:p>
          <a:p>
            <a:pPr marL="342900" indent="-342900">
              <a:spcAft>
                <a:spcPts val="600"/>
              </a:spcAft>
              <a:buSzPct val="100000"/>
              <a:buChar char="•"/>
            </a:pPr>
            <a:r>
              <a:rPr lang="es-ES" altLang="en-US" sz="2000" dirty="0">
                <a:solidFill>
                  <a:srgbClr val="1D2430"/>
                </a:solidFill>
              </a:rPr>
              <a:t>Se ha recorrido la página entera con el teclado.</a:t>
            </a:r>
            <a:endParaRPr lang="en-US" sz="2000" dirty="0"/>
          </a:p>
          <a:p>
            <a:pPr marL="342900" indent="-342900">
              <a:spcAft>
                <a:spcPts val="600"/>
              </a:spcAft>
              <a:buSzPct val="100000"/>
              <a:buChar char="•"/>
            </a:pPr>
            <a:r>
              <a:rPr lang="es-ES" altLang="en-US" sz="2000" dirty="0">
                <a:solidFill>
                  <a:srgbClr val="1D2430"/>
                </a:solidFill>
              </a:rPr>
              <a:t>Se ha probado con al menos un lector de pantalla.</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Herramientas de comprobación y pruebas automáticas (10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Resumen de la lección</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Las pruebas automáticas con herramientas como axe o Lighthouse son un excelente punto de partida, pero nunca suficientes por sí solas. Deben combinarse siempre con la validación manual mediante teclado, lectores de pantalla y pruebas con personas usuarias reales para asegurar un producto web verdaderamente accesible.</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Lista de comprobación antes de publicar (10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Lista de comprobación antes de publicar</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En esta lección final del módulo de comprobación y verificación, revisaremos la lista de comprobación de accesibilidad antes de publicar. Repasa estos puntos antes de publicar cualquier página nueva o un cambio importante, marcando solo lo que hayas comprobado de verdad.</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Lista de comprobación antes de publicar (10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Contenido y Diseño</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En el apartado de contenido, debemos verificar que cada imagen informativa tenga un texto alternativo que explique su función y que las imágenes decorativas tengan el atributo alt vacío. Además, los vídeos con voz necesitan subtítulos, los enlaces deben entenderse fuera de contexto y el idioma de la página tiene que estar indicado en la etiqueta html. En cuanto al diseño, el texto normal requiere un contraste de al menos 4,5 a 1, el texto grande y los bordes de los campos al menos 3 a 1, y la información nunca debe depender solo del color. Asimismo, la página debe poder ampliarse al 200 % y los elementos táctiles en dispositivos móviles han de medir al menos 24 por 24 píxeles.</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Lista de comprobación antes de publicar (10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Teclado, Foco y Formularios</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Es fundamental comprobar que todo se puede utilizar únicamente con el teclado, manteniendo un orden de tabulación lógico y asegurando que el foco sea siempre visible sin que ningún componente lo atrape. También se debe incluir un enlace para saltar al contenido principal. Respecto a los formularios, cada campo requiere una etiqueta visible asociada, prohibiendo el uso del placeholder en sustitución de la etiqueta. Los mensajes de error deben explicar claramente el fallo y cómo corregirlo, asegurando que dichos errores se anuncien a los lectores de pantalla.</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Lista de comprobación antes de publicar (10 min)</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Resumen final</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El uso sistemático de esta lista de verificación garantiza que tanto los aspectos de contenido, diseño, navegación por teclado como de formularios cumplan con los requisitos básicos de accesibilidad antes de poner cualquier desarrollo a disposición de los usuarios.</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Actividades</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Auditoría preliminar y lista de comprobación final</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Imagina que estás a punto de publicar una nueva página web corporativa. Utiliza los conocimientos de las lecciones para realizar una revisión guiada:</a:t>
            </a:r>
            <a:endParaRPr lang="en-US" sz="2000" dirty="0"/>
          </a:p>
          <a:p>
            <a:pPr marL="342900" indent="-342900">
              <a:spcAft>
                <a:spcPts val="600"/>
              </a:spcAft>
              <a:buSzPct val="100000"/>
              <a:buChar char="•"/>
            </a:pPr>
            <a:r>
              <a:rPr lang="es-ES" altLang="en-US" sz="2000" b="1" dirty="0">
                <a:solidFill>
                  <a:srgbClr val="1D2430"/>
                </a:solidFill>
              </a:rPr>
              <a:t>Herramientas automáticas:</a:t>
            </a:r>
            <a:endParaRPr lang="en-US" sz="2000" dirty="0"/>
          </a:p>
          <a:p>
            <a:pPr marL="342900" indent="-342900">
              <a:spcAft>
                <a:spcPts val="600"/>
              </a:spcAft>
              <a:buSzPct val="100000"/>
              <a:buChar char="•"/>
            </a:pPr>
            <a:r>
              <a:rPr lang="es-ES" altLang="en-US" sz="2000" dirty="0">
                <a:solidFill>
                  <a:srgbClr val="1D2430"/>
                </a:solidFill>
              </a:rPr>
              <a:t> Pasa una herramienta como axe o Lighthouse y anota cuántos errores detecta. Recuerda que estas herramientas no cubren la totalidad de los problemas [L1B2].</a:t>
            </a:r>
            <a:endParaRPr lang="en-US" sz="2000" dirty="0"/>
          </a:p>
          <a:p>
            <a:pPr marL="342900" indent="-342900">
              <a:spcAft>
                <a:spcPts val="600"/>
              </a:spcAft>
              <a:buSzPct val="100000"/>
              <a:buChar char="•"/>
            </a:pPr>
            <a:r>
              <a:rPr lang="es-ES" altLang="en-US" sz="2000" b="1" dirty="0">
                <a:solidFill>
                  <a:srgbClr val="1D2430"/>
                </a:solidFill>
              </a:rPr>
              <a:t>Prueba manual de teclado:</a:t>
            </a:r>
            <a:endParaRPr lang="en-US" sz="2000" dirty="0"/>
          </a:p>
          <a:p>
            <a:pPr marL="342900" indent="-342900">
              <a:spcAft>
                <a:spcPts val="600"/>
              </a:spcAft>
              <a:buSzPct val="100000"/>
              <a:buChar char="•"/>
            </a:pPr>
            <a:r>
              <a:rPr lang="es-ES" altLang="en-US" sz="2000" dirty="0">
                <a:solidFill>
                  <a:srgbClr val="1D2430"/>
                </a:solidFill>
              </a:rPr>
              <a:t> Navega por toda la página empleando exclusivamente el teclado, verifica que el orden de tabulación sea lógico y que el foco sea visible en todo momento [L1B3, L2B3].</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Actividades</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Auditoría preliminar y lista de comprobación final (cont.)</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marL="342900" indent="-342900">
              <a:spcAft>
                <a:spcPts val="600"/>
              </a:spcAft>
              <a:buSzPct val="100000"/>
              <a:buChar char="•"/>
            </a:pPr>
            <a:r>
              <a:rPr lang="es-ES" altLang="en-US" sz="2000" b="1" dirty="0">
                <a:solidFill>
                  <a:srgbClr val="1D2430"/>
                </a:solidFill>
              </a:rPr>
              <a:t>Verificación de contenidos y diseño:</a:t>
            </a:r>
            <a:endParaRPr lang="en-US" sz="2000" dirty="0"/>
          </a:p>
          <a:p>
            <a:pPr marL="342900" indent="-342900">
              <a:spcAft>
                <a:spcPts val="600"/>
              </a:spcAft>
              <a:buSzPct val="100000"/>
              <a:buChar char="•"/>
            </a:pPr>
            <a:r>
              <a:rPr lang="es-ES" altLang="en-US" sz="2000" dirty="0">
                <a:solidFill>
                  <a:srgbClr val="1D2430"/>
                </a:solidFill>
              </a:rPr>
              <a:t> Comprueba que las imágenes informativas tengan texto alternativo, que el texto normal cumpla con el contraste mínimo de 4,5 a 1 y que el idioma de la página esté correctamente indicado [L2B2].</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Comprobación y Verificación Final</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Comprobación y Verificación Final</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dirty="0">
                <a:solidFill>
                  <a:srgbClr val="1D2430"/>
                </a:solidFill>
              </a:rPr>
              <a:t>Para aprobar: 60 %</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Comprobación y Verificación Final</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Comprobación y Verificación Final</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1</a:t>
            </a:r>
            <a:pPr indent="0" marL="0">
              <a:spcAft>
                <a:spcPts val="600"/>
              </a:spcAft>
              <a:buNone/>
            </a:pPr>
            <a:r>
              <a:rPr lang="es-ES" altLang="en-US" sz="2000" dirty="0">
                <a:solidFill>
                  <a:srgbClr val="1D2430"/>
                </a:solidFill>
              </a:rPr>
              <a:t> (1 punto)</a:t>
            </a:r>
            <a:endParaRPr lang="en-US" sz="2000" dirty="0"/>
          </a:p>
          <a:p>
            <a:pPr indent="0" marL="0">
              <a:spcAft>
                <a:spcPts val="600"/>
              </a:spcAft>
              <a:buNone/>
            </a:pPr>
            <a:r>
              <a:rPr lang="es-ES" altLang="en-US" sz="2000" dirty="0">
                <a:solidFill>
                  <a:srgbClr val="1D2430"/>
                </a:solidFill>
              </a:rPr>
              <a:t>Según el contenido del módulo, ¿qué porcentaje o proporción de los problemas de accesibilidad detectan habitualmente las herramientas automáticas como axe o Lighthouse?</a:t>
            </a:r>
            <a:endParaRPr lang="en-US" sz="2000" dirty="0"/>
          </a:p>
          <a:p>
            <a:pPr marL="342900" indent="-342900">
              <a:spcAft>
                <a:spcPts val="600"/>
              </a:spcAft>
              <a:buSzPct val="100000"/>
              <a:buChar char="•"/>
            </a:pPr>
            <a:r>
              <a:rPr lang="es-ES" altLang="en-US" sz="2000" dirty="0">
                <a:solidFill>
                  <a:srgbClr val="1D2430"/>
                </a:solidFill>
              </a:rPr>
              <a:t>[ ] Detectan el 100% de los errores de accesibilidad.</a:t>
            </a:r>
            <a:endParaRPr lang="en-US" sz="2000" dirty="0"/>
          </a:p>
          <a:p>
            <a:pPr marL="342900" indent="-342900">
              <a:spcAft>
                <a:spcPts val="600"/>
              </a:spcAft>
              <a:buSzPct val="100000"/>
              <a:buChar char="•"/>
            </a:pPr>
            <a:r>
              <a:rPr lang="es-ES" altLang="en-US" sz="2000" dirty="0">
                <a:solidFill>
                  <a:srgbClr val="1D2430"/>
                </a:solidFill>
              </a:rPr>
              <a:t>[x] Detectan solo una parte, habitualmente menos de la mitad.</a:t>
            </a:r>
            <a:endParaRPr lang="en-US" sz="2000" dirty="0"/>
          </a:p>
          <a:p>
            <a:pPr marL="342900" indent="-342900">
              <a:spcAft>
                <a:spcPts val="600"/>
              </a:spcAft>
              <a:buSzPct val="100000"/>
              <a:buChar char="•"/>
            </a:pPr>
            <a:r>
              <a:rPr lang="es-ES" altLang="en-US" sz="2000" dirty="0">
                <a:solidFill>
                  <a:srgbClr val="1D2430"/>
                </a:solidFill>
              </a:rPr>
              <a:t>[ ] Detectan exactamente el 80% de los problemas de código.</a:t>
            </a:r>
            <a:endParaRPr lang="en-US" sz="2000" dirty="0"/>
          </a:p>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Las herramientas automáticas solo detectan una parte de los problemas, concretamente se suele citar que detectan menos de la mitad, por lo que deben complementarse con pruebas manuales [L1B2].</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Comprobación y Verificación Final</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Comprobación y Verificación Final</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2</a:t>
            </a:r>
            <a:pPr indent="0" marL="0">
              <a:spcAft>
                <a:spcPts val="600"/>
              </a:spcAft>
              <a:buNone/>
            </a:pPr>
            <a:r>
              <a:rPr lang="es-ES" altLang="en-US" sz="2000" dirty="0">
                <a:solidFill>
                  <a:srgbClr val="1D2430"/>
                </a:solidFill>
              </a:rPr>
              <a:t> (1 punto)</a:t>
            </a:r>
            <a:endParaRPr lang="en-US" sz="2000" dirty="0"/>
          </a:p>
          <a:p>
            <a:pPr indent="0" marL="0">
              <a:spcAft>
                <a:spcPts val="600"/>
              </a:spcAft>
              <a:buNone/>
            </a:pPr>
            <a:r>
              <a:rPr lang="es-ES" altLang="en-US" sz="2000" dirty="0">
                <a:solidFill>
                  <a:srgbClr val="1D2430"/>
                </a:solidFill>
              </a:rPr>
              <a:t>Las pruebas automáticas con herramientas como axe o Lighthouse son suficientes por sí solas para garantizar un producto web verdaderamente accesible.</a:t>
            </a:r>
            <a:endParaRPr lang="en-US" sz="2000" dirty="0"/>
          </a:p>
          <a:p>
            <a:pPr marL="342900" indent="-342900">
              <a:spcAft>
                <a:spcPts val="600"/>
              </a:spcAft>
              <a:buSzPct val="100000"/>
              <a:buChar char="•"/>
            </a:pPr>
            <a:r>
              <a:rPr lang="es-ES" altLang="en-US" sz="2000" dirty="0">
                <a:solidFill>
                  <a:srgbClr val="1D2430"/>
                </a:solidFill>
              </a:rPr>
              <a:t>[ ] Verdadero</a:t>
            </a:r>
            <a:endParaRPr lang="en-US" sz="2000" dirty="0"/>
          </a:p>
          <a:p>
            <a:pPr marL="342900" indent="-342900">
              <a:spcAft>
                <a:spcPts val="600"/>
              </a:spcAft>
              <a:buSzPct val="100000"/>
              <a:buChar char="•"/>
            </a:pPr>
            <a:r>
              <a:rPr lang="es-ES" altLang="en-US" sz="2000" dirty="0">
                <a:solidFill>
                  <a:srgbClr val="1D2430"/>
                </a:solidFill>
              </a:rPr>
              <a:t>[x] Falso</a:t>
            </a:r>
            <a:endParaRPr lang="en-US" sz="2000" dirty="0"/>
          </a:p>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Falso. Aunque son un excelente punto de partida, nunca son suficientes por sí solas y deben combinarse con validación manual y pruebas con personas usuarias reales [L1B4].</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Comprobación y Verificación Final</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Comprobación y Verificación Final</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3</a:t>
            </a:r>
            <a:pPr indent="0" marL="0">
              <a:spcAft>
                <a:spcPts val="600"/>
              </a:spcAft>
              <a:buNone/>
            </a:pPr>
            <a:r>
              <a:rPr lang="es-ES" altLang="en-US" sz="2000" dirty="0">
                <a:solidFill>
                  <a:srgbClr val="1D2430"/>
                </a:solidFill>
              </a:rPr>
              <a:t> (2 puntos)</a:t>
            </a:r>
            <a:endParaRPr lang="en-US" sz="2000" dirty="0"/>
          </a:p>
          <a:p>
            <a:pPr indent="0" marL="0">
              <a:spcAft>
                <a:spcPts val="600"/>
              </a:spcAft>
              <a:buNone/>
            </a:pPr>
            <a:r>
              <a:rPr lang="es-ES" altLang="en-US" sz="2000" dirty="0">
                <a:solidFill>
                  <a:srgbClr val="1D2430"/>
                </a:solidFill>
              </a:rPr>
              <a:t>¿Qué requisitos de contraste de color exige la lista de comprobación para el texto normal y para el texto grande o bordes de campos?</a:t>
            </a:r>
            <a:endParaRPr lang="en-US" sz="2000" dirty="0"/>
          </a:p>
          <a:p>
            <a:pPr marL="342900" indent="-342900">
              <a:spcAft>
                <a:spcPts val="600"/>
              </a:spcAft>
              <a:buSzPct val="100000"/>
              <a:buChar char="•"/>
            </a:pPr>
            <a:r>
              <a:rPr lang="es-ES" altLang="en-US" sz="2000" dirty="0">
                <a:solidFill>
                  <a:srgbClr val="1D2430"/>
                </a:solidFill>
              </a:rPr>
              <a:t>[ ] Texto normal 3 a 1; texto grande 1,5 a 1.</a:t>
            </a:r>
            <a:endParaRPr lang="en-US" sz="2000" dirty="0"/>
          </a:p>
          <a:p>
            <a:pPr marL="342900" indent="-342900">
              <a:spcAft>
                <a:spcPts val="600"/>
              </a:spcAft>
              <a:buSzPct val="100000"/>
              <a:buChar char="•"/>
            </a:pPr>
            <a:r>
              <a:rPr lang="es-ES" altLang="en-US" sz="2000" dirty="0">
                <a:solidFill>
                  <a:srgbClr val="1D2430"/>
                </a:solidFill>
              </a:rPr>
              <a:t>[x] Texto normal al menos 4,5 a 1; texto grande y bordes de campos al menos 3 a 1.</a:t>
            </a:r>
            <a:endParaRPr lang="en-US" sz="2000" dirty="0"/>
          </a:p>
          <a:p>
            <a:pPr marL="342900" indent="-342900">
              <a:spcAft>
                <a:spcPts val="600"/>
              </a:spcAft>
              <a:buSzPct val="100000"/>
              <a:buChar char="•"/>
            </a:pPr>
            <a:r>
              <a:rPr lang="es-ES" altLang="en-US" sz="2000" dirty="0">
                <a:solidFill>
                  <a:srgbClr val="1D2430"/>
                </a:solidFill>
              </a:rPr>
              <a:t>[ ] Ambos tipos de texto deben tener un contraste de 7 a 1 obligatoriamente.</a:t>
            </a:r>
            <a:endParaRPr lang="en-US" sz="2000" dirty="0"/>
          </a:p>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El texto normal requiere un contraste de al menos 4,5 a 1, mientras que el texto grande y los bordes de los campos exigen al menos 3 a 1 [L2B2].</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Comprobación y Verificación Final</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Comprobación y Verificación Final</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4</a:t>
            </a:r>
            <a:pPr indent="0" marL="0">
              <a:spcAft>
                <a:spcPts val="600"/>
              </a:spcAft>
              <a:buNone/>
            </a:pPr>
            <a:r>
              <a:rPr lang="es-ES" altLang="en-US" sz="2000" dirty="0">
                <a:solidFill>
                  <a:srgbClr val="1D2430"/>
                </a:solidFill>
              </a:rPr>
              <a:t> (1 punto)</a:t>
            </a:r>
            <a:endParaRPr lang="en-US" sz="2000" dirty="0"/>
          </a:p>
          <a:p>
            <a:pPr indent="0" marL="0">
              <a:spcAft>
                <a:spcPts val="600"/>
              </a:spcAft>
              <a:buNone/>
            </a:pPr>
            <a:r>
              <a:rPr lang="es-ES" altLang="en-US" sz="2000" dirty="0">
                <a:solidFill>
                  <a:srgbClr val="1D2430"/>
                </a:solidFill>
              </a:rPr>
              <a:t>¿Cómo debe estar el atributo </a:t>
            </a:r>
            <a:pPr indent="0" marL="0">
              <a:spcAft>
                <a:spcPts val="600"/>
              </a:spcAft>
              <a:buNone/>
            </a:pPr>
            <a:r>
              <a:rPr lang="es-ES" altLang="en-US" sz="2000" dirty="0">
                <a:solidFill>
                  <a:srgbClr val="1D2430"/>
                </a:solidFill>
                <a:latin typeface="Courier New" pitchFamily="34" charset="0"/>
                <a:ea typeface="Courier New" pitchFamily="34" charset="-122"/>
                <a:cs typeface="Courier New" pitchFamily="34" charset="-120"/>
              </a:rPr>
              <a:t>alt</a:t>
            </a:r>
            <a:pPr indent="0" marL="0">
              <a:spcAft>
                <a:spcPts val="600"/>
              </a:spcAft>
              <a:buNone/>
            </a:pPr>
            <a:r>
              <a:rPr lang="es-ES" altLang="en-US" sz="2000" dirty="0">
                <a:solidFill>
                  <a:srgbClr val="1D2430"/>
                </a:solidFill>
              </a:rPr>
              <a:t> en las imágenes que se consideran puramente decorativas según el bloque de contenido y diseño?</a:t>
            </a:r>
            <a:endParaRPr lang="en-US" sz="2000" dirty="0"/>
          </a:p>
          <a:p>
            <a:pPr indent="0" marL="0">
              <a:spcAft>
                <a:spcPts val="600"/>
              </a:spcAft>
              <a:buNone/>
            </a:pPr>
            <a:r>
              <a:rPr lang="es-ES" altLang="en-US" sz="2000" dirty="0">
                <a:solidFill>
                  <a:srgbClr val="1D2430"/>
                </a:solidFill>
              </a:rPr>
              <a:t>Respuestas aceptadas: vacío, vacio</a:t>
            </a:r>
            <a:endParaRPr lang="en-US" sz="2000" dirty="0"/>
          </a:p>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Las imágenes decorativas deben tener el atributo alt vacío [L2B2].</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Comprobación y Verificación Final</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Comprobación y Verificación Final</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1D2430"/>
                </a:solidFill>
              </a:rPr>
              <a:t>Pregunta 5</a:t>
            </a:r>
            <a:pPr indent="0" marL="0">
              <a:spcAft>
                <a:spcPts val="600"/>
              </a:spcAft>
              <a:buNone/>
            </a:pPr>
            <a:r>
              <a:rPr lang="es-ES" altLang="en-US" sz="2000" dirty="0">
                <a:solidFill>
                  <a:srgbClr val="1D2430"/>
                </a:solidFill>
              </a:rPr>
              <a:t> (3 puntos)</a:t>
            </a:r>
            <a:endParaRPr lang="en-US" sz="2000" dirty="0"/>
          </a:p>
          <a:p>
            <a:pPr indent="0" marL="0">
              <a:spcAft>
                <a:spcPts val="600"/>
              </a:spcAft>
              <a:buNone/>
            </a:pPr>
            <a:r>
              <a:rPr lang="es-ES" altLang="en-US" sz="2000" dirty="0">
                <a:solidFill>
                  <a:srgbClr val="1D2430"/>
                </a:solidFill>
              </a:rPr>
              <a:t>Relaciona cada elemento de la lista de comprobación con su ámbito o requisito correspondiente según las lecciones finales:</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Comprobación y Verificación Final</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Comprobación y Verificación Final</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5545836"/>
                <a:gridCol w="5545836"/>
              </a:tblGrid>
              <a:tr h="0">
                <a:tc>
                  <a:txBody>
                    <a:bodyPr/>
                    <a:lstStyle/>
                    <a:p>
                      <a:pPr indent="0" marL="0">
                        <a:buNone/>
                      </a:pPr>
                      <a:r>
                        <a:rPr lang="en-US" sz="1400" b="1" dirty="0">
                          <a:solidFill>
                            <a:srgbClr val="1D2430"/>
                          </a:solidFill>
                        </a:rPr>
                        <a:t>Elementos</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solidFill>
                      <a:srgbClr val="EEF3FB"/>
                    </a:solidFill>
                  </a:tcPr>
                </a:tc>
                <a:tc>
                  <a:txBody>
                    <a:bodyPr/>
                    <a:lstStyle/>
                    <a:p>
                      <a:pPr indent="0" marL="0">
                        <a:buNone/>
                      </a:pPr>
                      <a:r>
                        <a:rPr lang="en-US" sz="1400" b="1" dirty="0">
                          <a:solidFill>
                            <a:srgbClr val="1D2430"/>
                          </a:solidFill>
                        </a:rPr>
                        <a:t>Opciones</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solidFill>
                      <a:srgbClr val="EEF3FB"/>
                    </a:solidFill>
                  </a:tcPr>
                </a:tc>
              </a:tr>
              <a:tr h="0">
                <a:tc>
                  <a:txBody>
                    <a:bodyPr/>
                    <a:lstStyle/>
                    <a:p>
                      <a:pPr indent="0" marL="0">
                        <a:buNone/>
                      </a:pPr>
                      <a:r>
                        <a:rPr lang="en-US" sz="1400" dirty="0">
                          <a:solidFill>
                            <a:srgbClr val="1D2430"/>
                          </a:solidFill>
                        </a:rPr>
                        <a:t>Idioma de la página</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c>
                  <a:txBody>
                    <a:bodyPr/>
                    <a:lstStyle/>
                    <a:p>
                      <a:pPr indent="0" marL="0">
                        <a:buNone/>
                      </a:pPr>
                      <a:r>
                        <a:rPr lang="en-US" sz="1400" dirty="0">
                          <a:solidFill>
                            <a:srgbClr val="1D2430"/>
                          </a:solidFill>
                        </a:rPr>
                        <a:t>Debe estar indicado en la etiqueta html</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r>
              <a:tr h="0">
                <a:tc>
                  <a:txBody>
                    <a:bodyPr/>
                    <a:lstStyle/>
                    <a:p>
                      <a:pPr indent="0" marL="0">
                        <a:buNone/>
                      </a:pPr>
                      <a:r>
                        <a:rPr lang="en-US" sz="1400" dirty="0">
                          <a:solidFill>
                            <a:srgbClr val="1D2430"/>
                          </a:solidFill>
                        </a:rPr>
                        <a:t>Uso de placeholder en formularios</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c>
                  <a:txBody>
                    <a:bodyPr/>
                    <a:lstStyle/>
                    <a:p>
                      <a:pPr indent="0" marL="0">
                        <a:buNone/>
                      </a:pPr>
                      <a:r>
                        <a:rPr lang="en-US" sz="1400" dirty="0">
                          <a:solidFill>
                            <a:srgbClr val="1D2430"/>
                          </a:solidFill>
                        </a:rPr>
                        <a:t>Prohibido en sustitución de la etiqueta visible asociada</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r>
              <a:tr h="0">
                <a:tc>
                  <a:txBody>
                    <a:bodyPr/>
                    <a:lstStyle/>
                    <a:p>
                      <a:pPr indent="0" marL="0">
                        <a:buNone/>
                      </a:pPr>
                      <a:r>
                        <a:rPr lang="en-US" sz="1400" dirty="0">
                          <a:solidFill>
                            <a:srgbClr val="1D2430"/>
                          </a:solidFill>
                        </a:rPr>
                        <a:t>Ampliación de texto</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c>
                  <a:txBody>
                    <a:bodyPr/>
                    <a:lstStyle/>
                    <a:p>
                      <a:pPr indent="0" marL="0">
                        <a:buNone/>
                      </a:pPr>
                      <a:r>
                        <a:rPr lang="en-US" sz="1400" dirty="0">
                          <a:solidFill>
                            <a:srgbClr val="1D2430"/>
                          </a:solidFill>
                        </a:rPr>
                        <a:t>La página debe poder ampliarse al 200 %</a:t>
                      </a:r>
                      <a:endParaRPr lang="en-US" sz="1400" dirty="0"/>
                    </a:p>
                  </a:txBody>
                  <a:tcPr marL="91440" marR="91440" marT="45720" marB="45720">
                    <a:lnL w="9525" cap="flat" cmpd="sng" algn="ctr">
                      <a:solidFill>
                        <a:srgbClr val="BFC6D1"/>
                      </a:solidFill>
                      <a:prstDash val="solid"/>
                      <a:round/>
                      <a:headEnd type="none" w="med" len="med"/>
                      <a:tailEnd type="none" w="med" len="med"/>
                    </a:lnL>
                    <a:lnR w="9525" cap="flat" cmpd="sng" algn="ctr">
                      <a:solidFill>
                        <a:srgbClr val="BFC6D1"/>
                      </a:solidFill>
                      <a:prstDash val="solid"/>
                      <a:round/>
                      <a:headEnd type="none" w="med" len="med"/>
                      <a:tailEnd type="none" w="med" len="med"/>
                    </a:lnR>
                    <a:lnT w="9525" cap="flat" cmpd="sng" algn="ctr">
                      <a:solidFill>
                        <a:srgbClr val="BFC6D1"/>
                      </a:solidFill>
                      <a:prstDash val="solid"/>
                      <a:round/>
                      <a:headEnd type="none" w="med" len="med"/>
                      <a:tailEnd type="none" w="med" len="med"/>
                    </a:lnT>
                    <a:lnB w="9525" cap="flat" cmpd="sng" algn="ctr">
                      <a:solidFill>
                        <a:srgbClr val="BFC6D1"/>
                      </a:solidFill>
                      <a:prstDash val="solid"/>
                      <a:round/>
                      <a:headEnd type="none" w="med" len="med"/>
                      <a:tailEnd type="none" w="med" len="med"/>
                    </a:lnB>
                  </a:tcPr>
                </a:tc>
              </a:tr>
            </a:tbl>
          </a:graphicData>
        </a:graphic>
      </p:graphicFrame>
      <p:sp>
        <p:nvSpPr>
          <p:cNvPr id="6" name="Text 3"/>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indent="0" marL="0">
              <a:buNone/>
            </a:pPr>
            <a:r>
              <a:rPr lang="en-US" sz="1300" dirty="0">
                <a:solidFill>
                  <a:srgbClr val="5B6678"/>
                </a:solidFill>
              </a:rPr>
              <a:t>Evaluación: Comprueba lo aprendido: Comprobación y Verificación Final</a:t>
            </a:r>
            <a:endParaRPr lang="en-US" sz="1300" dirty="0"/>
          </a:p>
        </p:txBody>
      </p:sp>
      <p:sp>
        <p:nvSpPr>
          <p:cNvPr id="3" name="Text 1"/>
          <p:cNvSpPr/>
          <p:nvPr/>
        </p:nvSpPr>
        <p:spPr>
          <a:xfrm>
            <a:off x="548640" y="548640"/>
            <a:ext cx="11091672" cy="822960"/>
          </a:xfrm>
          <a:prstGeom prst="rect">
            <a:avLst/>
          </a:prstGeom>
          <a:noFill/>
          <a:ln/>
        </p:spPr>
        <p:txBody>
          <a:bodyPr wrap="square" rtlCol="0" anchor="ctr">
            <a:normAutofit/>
          </a:bodyPr>
          <a:lstStyle/>
          <a:p>
            <a:pPr indent="0" marL="0">
              <a:buNone/>
            </a:pPr>
            <a:r>
              <a:rPr lang="en-US" sz="2800" b="1" dirty="0">
                <a:solidFill>
                  <a:srgbClr val="1D2430"/>
                </a:solidFill>
              </a:rPr>
              <a:t>Evaluación: Comprueba lo aprendido: Comprobación y Verificación Final</a:t>
            </a:r>
            <a:endParaRPr lang="en-US" sz="2800" dirty="0"/>
          </a:p>
        </p:txBody>
      </p:sp>
      <p:sp>
        <p:nvSpPr>
          <p:cNvPr id="4" name="Shape 2"/>
          <p:cNvSpPr/>
          <p:nvPr/>
        </p:nvSpPr>
        <p:spPr>
          <a:xfrm>
            <a:off x="548640" y="1417320"/>
            <a:ext cx="11091672" cy="0"/>
          </a:xfrm>
          <a:prstGeom prst="line">
            <a:avLst/>
          </a:prstGeom>
          <a:noFill/>
          <a:ln w="19050">
            <a:solidFill>
              <a:srgbClr val="1F5FBF"/>
            </a:solidFill>
            <a:prstDash val="solid"/>
          </a:ln>
        </p:spPr>
      </p:sp>
      <p:sp>
        <p:nvSpPr>
          <p:cNvPr id="5" name="Text 3"/>
          <p:cNvSpPr/>
          <p:nvPr/>
        </p:nvSpPr>
        <p:spPr>
          <a:xfrm>
            <a:off x="548640" y="1645920"/>
            <a:ext cx="11091672" cy="4389120"/>
          </a:xfrm>
          <a:prstGeom prst="rect">
            <a:avLst/>
          </a:prstGeom>
          <a:noFill/>
          <a:ln/>
        </p:spPr>
        <p:txBody>
          <a:bodyPr wrap="square" rtlCol="0" anchor="t">
            <a:normAutofit/>
          </a:bodyPr>
          <a:lstStyle/>
          <a:p>
            <a:pPr indent="0" marL="0">
              <a:spcAft>
                <a:spcPts val="600"/>
              </a:spcAft>
              <a:buNone/>
            </a:pPr>
            <a:r>
              <a:rPr lang="es-ES" altLang="en-US" sz="2000" b="1" dirty="0">
                <a:solidFill>
                  <a:srgbClr val="5B6678"/>
                </a:solidFill>
              </a:rPr>
              <a:t>Explicación. </a:t>
            </a:r>
            <a:pPr indent="0" marL="0">
              <a:spcAft>
                <a:spcPts val="600"/>
              </a:spcAft>
              <a:buNone/>
            </a:pPr>
            <a:r>
              <a:rPr lang="es-ES" altLang="en-US" sz="2000" dirty="0">
                <a:solidFill>
                  <a:srgbClr val="5B6678"/>
                </a:solidFill>
              </a:rPr>
              <a:t>Cada elemento corresponde a su especificación exacta descrita en las pautas de contenido, diseño y formularios del módulo [L2B2, L2B3].</a:t>
            </a:r>
            <a:endParaRPr lang="en-US" sz="2000" dirty="0"/>
          </a:p>
        </p:txBody>
      </p:sp>
      <p:sp>
        <p:nvSpPr>
          <p:cNvPr id="6" name="Text 4"/>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678"/>
                </a:solidFill>
              </a:rPr>
              <a:t>Fundamentos de Accesibilidad Web para Equipos de Desarrollo</a:t>
            </a:r>
            <a:endParaRPr lang="en-US" sz="1000" dirty="0"/>
          </a:p>
        </p:txBody>
      </p:sp>
      <p:sp>
        <p:nvSpPr>
          <p:cNvPr id="25" name="Slide Number Placeholder 0"/>
          <p:cNvSpPr>
            <a:spLocks noGrp="1"/>
          </p:cNvSpPr>
          <p:nvPr>
            <p:ph type="sldNum" sz="quarter" idx="4294967295"/>
          </p:nvPr>
        </p:nvSpPr>
        <p:spPr>
          <a:xfrm>
            <a:off x="11274552" y="640080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5B6678"/>
                </a:solidFill>
              </a:defRPr>
            </a:lvl1pPr>
          </a:lstStyle>
          <a:p>
            <a:pPr algn="l"/>
            <a:fld id="{F7021451-1387-4CA6-816F-3879F97B5CBC}" type="slidenum">
              <a:rPr b="0" lang="en-US"/>
              <a:t>63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Fundamentos de Accesibilidad Web para Equipos de Desarrollo</dc:title>
  <dc:subject>Curso práctico de nivel principiante enfocado en enseñar a desarrolladores web los principios básicos de accesibilidad, diseño inclusivo y buenas prácticas de programación según las pautas WCAG. Aprenderás a estructurar contenido semántico, gestionar el contraste, asegurar la navegación por teclado y aplicar comprobaciones efectivas antes de publicar.</dc:subject>
  <dc:creator>Generador de cursos</dc:creator>
  <cp:lastModifiedBy>Generador de cursos</cp:lastModifiedBy>
  <cp:revision>1</cp:revision>
  <dcterms:created xsi:type="dcterms:W3CDTF">2026-10-31T19:23:08Z</dcterms:created>
  <dcterms:modified xsi:type="dcterms:W3CDTF">2026-10-31T19:23:08Z</dcterms:modified>
</cp:coreProperties>
</file>